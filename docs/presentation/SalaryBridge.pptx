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18A7F21-9462-DE54-CCEC-AC6FEB9EFD91}">
          <p14:sldIdLst>
            <p14:sldId id="256"/>
          </p14:sldIdLst>
        </p14:section>
        <p14:section name="Problem and solution" id="{71D26C67-A901-4C1F-80CE-48D9DC5F1C65}">
          <p14:sldIdLst>
            <p14:sldId id="257"/>
            <p14:sldId id="258"/>
          </p14:sldIdLst>
        </p14:section>
        <p14:section name="Product" id="{5CF44F83-C04C-E050-426D-48A165979749}">
          <p14:sldIdLst>
            <p14:sldId id="259"/>
            <p14:sldId id="260"/>
          </p14:sldIdLst>
        </p14:section>
        <p14:section name="AI and evidence" id="{AD92F148-ECB1-2634-F3BF-634B30691364}">
          <p14:sldIdLst>
            <p14:sldId id="261"/>
            <p14:sldId id="262"/>
          </p14:sldIdLst>
        </p14:section>
        <p14:section name="Trust and business" id="{AAF4935A-B7C2-7BAF-B513-6E3B81AA9DC4}">
          <p14:sldIdLst>
            <p14:sldId id="263"/>
            <p14:sldId id="264"/>
          </p14:sldIdLst>
        </p14:section>
        <p14:section name="Close" id="{D2572BEF-1F96-95B2-E86E-FCE2DF220A0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5232D"/>
                </a:solidFill>
                <a:latin typeface="+mn-lt"/>
              </a:defRPr>
            </a:pPr>
            <a:r>
              <a:rPr lang="en-GB" sz="1400" b="0" i="0" u="none" strike="noStrike">
                <a:solidFill>
                  <a:srgbClr val="15232D"/>
                </a:solidFill>
                <a:latin typeface="+mn-lt"/>
              </a:rPr>
              <a:t>Loss rate on unseen months (%)</a:t>
            </a:r>
          </a:p>
        </c:rich>
      </c:tx>
      <c:overlay val="0"/>
    </c:title>
    <c:autoTitleDeleted val="0"/>
    <c:plotArea>
      <c:layout/>
      <c:barChart>
        <c:barDir val="col"/>
        <c:grouping val="clustered"/>
        <c:varyColors val="0"/>
        <c:ser>
          <c:idx val="0"/>
          <c:order val="0"/>
          <c:tx>
            <c:strRef>
              <c:f>Sheet1!$B$1</c:f>
              <c:strCache>
                <c:ptCount val="1"/>
                <c:pt idx="0">
                  <c:v>Flat 20% cap (no AI)</c:v>
                </c:pt>
              </c:strCache>
            </c:strRef>
          </c:tx>
          <c:spPr>
            <a:solidFill>
              <a:srgbClr val="5B6B73"/>
            </a:solidFill>
            <a:effectLst/>
          </c:spPr>
          <c:invertIfNegative val="0"/>
          <c:dLbls>
            <c:numFmt formatCode="0.00&quot;%&quot;" sourceLinked="0"/>
            <c:spPr>
              <a:noFill/>
              <a:ln>
                <a:noFill/>
              </a:ln>
              <a:effectLst/>
            </c:spPr>
            <c:txPr>
              <a:bodyPr/>
              <a:lstStyle/>
              <a:p>
                <a:pPr>
                  <a:defRPr sz="1300" b="0" i="0" u="none" strike="noStrike">
                    <a:solidFill>
                      <a:srgbClr val="15232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Profile A · training world</c:v>
                </c:pt>
                <c:pt idx="1">
                  <c:v>Profile B · harsher stress world</c:v>
                </c:pt>
              </c:strCache>
            </c:strRef>
          </c:cat>
          <c:val>
            <c:numRef>
              <c:f>Sheet1!$B$2:$B$3</c:f>
              <c:numCache>
                <c:formatCode>General</c:formatCode>
                <c:ptCount val="2"/>
                <c:pt idx="0">
                  <c:v>0.95</c:v>
                </c:pt>
                <c:pt idx="1">
                  <c:v>1.55</c:v>
                </c:pt>
              </c:numCache>
            </c:numRef>
          </c:val>
          <c:extLst>
            <c:ext xmlns:c16="http://schemas.microsoft.com/office/drawing/2014/chart" uri="{C3380CC4-5D6E-409C-BE32-E72D297353CC}">
              <c16:uniqueId val="{00000000-06E6-44F6-BE30-9B5377DE63D3}"/>
            </c:ext>
          </c:extLst>
        </c:ser>
        <c:ser>
          <c:idx val="1"/>
          <c:order val="1"/>
          <c:tx>
            <c:strRef>
              <c:f>Sheet1!$C$1</c:f>
              <c:strCache>
                <c:ptCount val="1"/>
                <c:pt idx="0">
                  <c:v>SalaryBridge ML tiers</c:v>
                </c:pt>
              </c:strCache>
            </c:strRef>
          </c:tx>
          <c:spPr>
            <a:solidFill>
              <a:srgbClr val="00876A"/>
            </a:solidFill>
            <a:effectLst/>
          </c:spPr>
          <c:invertIfNegative val="0"/>
          <c:dLbls>
            <c:numFmt formatCode="0.00&quot;%&quot;" sourceLinked="0"/>
            <c:spPr>
              <a:noFill/>
              <a:ln>
                <a:noFill/>
              </a:ln>
              <a:effectLst/>
            </c:spPr>
            <c:txPr>
              <a:bodyPr/>
              <a:lstStyle/>
              <a:p>
                <a:pPr>
                  <a:defRPr sz="1300" b="0" i="0" u="none" strike="noStrike">
                    <a:solidFill>
                      <a:srgbClr val="15232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Profile A · training world</c:v>
                </c:pt>
                <c:pt idx="1">
                  <c:v>Profile B · harsher stress world</c:v>
                </c:pt>
              </c:strCache>
            </c:strRef>
          </c:cat>
          <c:val>
            <c:numRef>
              <c:f>Sheet1!$C$2:$C$3</c:f>
              <c:numCache>
                <c:formatCode>General</c:formatCode>
                <c:ptCount val="2"/>
                <c:pt idx="0">
                  <c:v>0.62</c:v>
                </c:pt>
                <c:pt idx="1">
                  <c:v>1.31</c:v>
                </c:pt>
              </c:numCache>
            </c:numRef>
          </c:val>
          <c:extLst>
            <c:ext xmlns:c16="http://schemas.microsoft.com/office/drawing/2014/chart" uri="{C3380CC4-5D6E-409C-BE32-E72D297353CC}">
              <c16:uniqueId val="{00000001-06E6-44F6-BE30-9B5377DE63D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max val="1.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5232D"/>
                </a:solidFill>
                <a:latin typeface="+mn-lt"/>
              </a:defRPr>
            </a:pPr>
            <a:r>
              <a:rPr lang="en-GB" sz="1400" b="0" i="0" u="none" strike="noStrike">
                <a:solidFill>
                  <a:srgbClr val="15232D"/>
                </a:solidFill>
                <a:latin typeface="+mn-lt"/>
              </a:rPr>
              <a:t>One sandbox month, Profile A (≈455 advances, ৳25 fee)</a:t>
            </a:r>
          </a:p>
        </c:rich>
      </c:tx>
      <c:overlay val="0"/>
    </c:title>
    <c:autoTitleDeleted val="0"/>
    <c:plotArea>
      <c:layout/>
      <c:barChart>
        <c:barDir val="col"/>
        <c:grouping val="stacked"/>
        <c:varyColors val="0"/>
        <c:ser>
          <c:idx val="0"/>
          <c:order val="0"/>
          <c:tx>
            <c:strRef>
              <c:f>Sheet1!$B$1</c:f>
              <c:strCache>
                <c:ptCount val="1"/>
                <c:pt idx="0">
                  <c:v>Revenue</c:v>
                </c:pt>
              </c:strCache>
            </c:strRef>
          </c:tx>
          <c:spPr>
            <a:solidFill>
              <a:srgbClr val="00876A"/>
            </a:solidFill>
            <a:effectLst/>
          </c:spPr>
          <c:invertIfNegative val="0"/>
          <c:dLbls>
            <c:numFmt formatCode="&quot;৳&quot;#,##0;;" sourceLinked="0"/>
            <c:spPr>
              <a:noFill/>
              <a:ln>
                <a:noFill/>
              </a:ln>
              <a:effectLst/>
            </c:spPr>
            <c:txPr>
              <a:bodyPr/>
              <a:lstStyle/>
              <a:p>
                <a:pPr>
                  <a:defRPr sz="1200" b="0" i="0" u="none" strike="noStrike">
                    <a:solidFill>
                      <a:srgbClr val="15232D"/>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Fee revenue</c:v>
                </c:pt>
                <c:pt idx="1">
                  <c:v>Credit loss</c:v>
                </c:pt>
                <c:pt idx="2">
                  <c:v>Capital cost</c:v>
                </c:pt>
                <c:pt idx="3">
                  <c:v>Idle buffer</c:v>
                </c:pt>
                <c:pt idx="4">
                  <c:v>Operations</c:v>
                </c:pt>
              </c:strCache>
            </c:strRef>
          </c:cat>
          <c:val>
            <c:numRef>
              <c:f>Sheet1!$B$2:$B$6</c:f>
              <c:numCache>
                <c:formatCode>General</c:formatCode>
                <c:ptCount val="5"/>
                <c:pt idx="0">
                  <c:v>11370</c:v>
                </c:pt>
                <c:pt idx="1">
                  <c:v>0</c:v>
                </c:pt>
                <c:pt idx="2">
                  <c:v>0</c:v>
                </c:pt>
                <c:pt idx="3">
                  <c:v>0</c:v>
                </c:pt>
                <c:pt idx="4">
                  <c:v>0</c:v>
                </c:pt>
              </c:numCache>
            </c:numRef>
          </c:val>
          <c:extLst>
            <c:ext xmlns:c16="http://schemas.microsoft.com/office/drawing/2014/chart" uri="{C3380CC4-5D6E-409C-BE32-E72D297353CC}">
              <c16:uniqueId val="{00000000-CA8A-431A-8174-D54E3A05FE6C}"/>
            </c:ext>
          </c:extLst>
        </c:ser>
        <c:ser>
          <c:idx val="1"/>
          <c:order val="1"/>
          <c:tx>
            <c:strRef>
              <c:f>Sheet1!$C$1</c:f>
              <c:strCache>
                <c:ptCount val="1"/>
                <c:pt idx="0">
                  <c:v>Cost</c:v>
                </c:pt>
              </c:strCache>
            </c:strRef>
          </c:tx>
          <c:spPr>
            <a:solidFill>
              <a:srgbClr val="F2A33A"/>
            </a:solidFill>
            <a:effectLst/>
          </c:spPr>
          <c:invertIfNegative val="0"/>
          <c:dLbls>
            <c:numFmt formatCode="&quot;৳&quot;#,##0;;" sourceLinked="0"/>
            <c:spPr>
              <a:noFill/>
              <a:ln>
                <a:noFill/>
              </a:ln>
              <a:effectLst/>
            </c:spPr>
            <c:txPr>
              <a:bodyPr/>
              <a:lstStyle/>
              <a:p>
                <a:pPr>
                  <a:defRPr sz="1200" b="0" i="0" u="none" strike="noStrike">
                    <a:solidFill>
                      <a:srgbClr val="15232D"/>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Fee revenue</c:v>
                </c:pt>
                <c:pt idx="1">
                  <c:v>Credit loss</c:v>
                </c:pt>
                <c:pt idx="2">
                  <c:v>Capital cost</c:v>
                </c:pt>
                <c:pt idx="3">
                  <c:v>Idle buffer</c:v>
                </c:pt>
                <c:pt idx="4">
                  <c:v>Operations</c:v>
                </c:pt>
              </c:strCache>
            </c:strRef>
          </c:cat>
          <c:val>
            <c:numRef>
              <c:f>Sheet1!$C$2:$C$6</c:f>
              <c:numCache>
                <c:formatCode>General</c:formatCode>
                <c:ptCount val="5"/>
                <c:pt idx="0">
                  <c:v>0</c:v>
                </c:pt>
                <c:pt idx="1">
                  <c:v>10248</c:v>
                </c:pt>
                <c:pt idx="2">
                  <c:v>7284</c:v>
                </c:pt>
                <c:pt idx="3">
                  <c:v>2441</c:v>
                </c:pt>
                <c:pt idx="4">
                  <c:v>2274</c:v>
                </c:pt>
              </c:numCache>
            </c:numRef>
          </c:val>
          <c:extLst>
            <c:ext xmlns:c16="http://schemas.microsoft.com/office/drawing/2014/chart" uri="{C3380CC4-5D6E-409C-BE32-E72D297353CC}">
              <c16:uniqueId val="{00000001-CA8A-431A-8174-D54E3A05FE6C}"/>
            </c:ext>
          </c:extLst>
        </c:ser>
        <c:dLbls>
          <c:dLblPos val="inEnd"/>
          <c:showLegendKey val="0"/>
          <c:showVal val="1"/>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CE9"/>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80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workers reach wages they have already earned, inside upay, before payday. Replace the team placeholders before presenting. All data in the demo is synthetic.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problem concrete with Rahim. On the 20th he has earned ৳11,612 but can reach none of it. The three gaps: informal credit, no wage data, and employers who will not take on the work. upay already has the wallet and the users; it lacks a safe way to lend against payroll.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employer only opts in and, on payday, sends one transfer from a deduction list we generate. Hard cap = min(20% of salary, earned minus already owed); the fee stays inside earned wages. Rules decide eligibility; AI can only shrink an offer or send it to a person.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path: Demo mode, Rahim asks for ৳3,600, sees the fee and the deduction date, and reads why. Switch to Bangla to show the same offer. These are real screenshots of the running 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HR sees Rahim's ৳3,625 on the deduction notice and confirms one remittance. Right: scenario S6, an Eid surge. The forecast's required pool (P90 + 15% buffer) rises above the ৳22 lakh pool, so new requests go to the human queue (POOL_BELOW_FORECAST). The money-flow ledger stays reconciled.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rule: only rules can decline. Models size the offer (M2 tier, M3 downgrade), price the employer (M1), keep enough capital (M4) and spot abuse (M5). Claude only rewords facts we hand it; numbers are checked and a template is used without a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runs on 5 seeds and two worlds; the test window is the last 3 months, never trained on. Profile B is a harsher stress world. Misses: T2-A forecast band too wide (0.92 coverage, safe side) and T3-B employer-size approval gap 9.1 pp; the fix is retraining M2/M3 without employer headcount and re-running the audit.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control maps to code and a test in docs/responsible_ai.md. Lending to low-income workers needs guard-rails first: the cap, human review, cooling-off, the fairness audit and the kill switch.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are labelled in the app: 12% annual cost of capital, 15% idle buffer, ৳5 operations cost per advance. At the ৳25 fee the sandbox month loses ৳10,876; the break-even fee is ৳49 (A) and ৳60 (B). We show this openly; the economics slider on the Validation page lets judges change every assumption.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 pilot with one employer. Name the first next step plainly (retrain without employer headcount, re-run the audit). Replace the team and live-URL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3A33"/>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822960"/>
            <a:ext cx="6583680" cy="365760"/>
          </a:xfrm>
          <a:prstGeom prst="rect">
            <a:avLst/>
          </a:prstGeom>
          <a:noFill/>
          <a:ln/>
        </p:spPr>
        <p:txBody>
          <a:bodyPr wrap="square" rtlCol="0"/>
          <a:lstStyle>
            <a:lvl1pPr marL="0" indent="0">
              <a:buNone/>
              <a:defRPr lang="en-US" sz="1400" b="1" dirty="0">
                <a:solidFill>
                  <a:schemeClr val="accent5"/>
                </a:solidFill>
              </a:defRPr>
            </a:lvl1pPr>
          </a:lstStyle>
          <a:p>
            <a:pPr marL="0" indent="0">
              <a:buNone/>
            </a:pPr>
            <a:endParaRPr lang="en-US" sz="1400" dirty="0"/>
          </a:p>
        </p:txBody>
      </p:sp>
      <p:sp>
        <p:nvSpPr>
          <p:cNvPr id="3" name="Text 0"/>
          <p:cNvSpPr>
            <a:spLocks noGrp="1"/>
          </p:cNvSpPr>
          <p:nvPr>
            <p:ph type="title" idx="101" hasCustomPrompt="1"/>
          </p:nvPr>
        </p:nvSpPr>
        <p:spPr>
          <a:xfrm>
            <a:off x="640080" y="1280160"/>
            <a:ext cx="6766560" cy="1188720"/>
          </a:xfrm>
          <a:prstGeom prst="rect">
            <a:avLst/>
          </a:prstGeom>
          <a:noFill/>
          <a:ln/>
        </p:spPr>
        <p:txBody>
          <a:bodyPr wrap="square" rtlCol="0"/>
          <a:lstStyle>
            <a:lvl1pPr marL="0" indent="0" algn="l">
              <a:buNone/>
              <a:defRPr lang="en-US" sz="6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6000" dirty="0"/>
          </a:p>
        </p:txBody>
      </p:sp>
      <p:sp>
        <p:nvSpPr>
          <p:cNvPr id="4" name="Text 0"/>
          <p:cNvSpPr>
            <a:spLocks noGrp="1"/>
          </p:cNvSpPr>
          <p:nvPr>
            <p:ph type="body" idx="102" hasCustomPrompt="1"/>
          </p:nvPr>
        </p:nvSpPr>
        <p:spPr>
          <a:xfrm>
            <a:off x="640080" y="2560320"/>
            <a:ext cx="6583680" cy="100584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rtlCol="0"/>
          <a:lstStyle>
            <a:lvl1pPr marL="0" indent="0">
              <a:buNone/>
              <a:defRPr lang="en-US" sz="3400" b="1" dirty="0">
                <a:solidFill>
                  <a:schemeClr val="tx1"/>
                </a:solidFill>
                <a:latin typeface="Cambria" pitchFamily="34" charset="0"/>
                <a:ea typeface="Cambria" pitchFamily="34" charset="-122"/>
                <a:cs typeface="Cambria" pitchFamily="34" charset="-120"/>
              </a:defRPr>
            </a:lvl1pPr>
          </a:lstStyle>
          <a:p>
            <a:pPr marL="0" indent="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B6B73"/>
                </a:solidFill>
              </a:rPr>
              <a:t>SalaryBridge · DIU CPC × upay AI Hackathon 2026 · all data synthetic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0B3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rtlCol="0"/>
          <a:lstStyle>
            <a:lvl1pPr marL="0" indent="0">
              <a:buNone/>
              <a:defRPr lang="en-US" sz="3400" b="1" dirty="0">
                <a:solidFill>
                  <a:schemeClr val="bg1"/>
                </a:solidFill>
                <a:latin typeface="Cambria" pitchFamily="34" charset="0"/>
                <a:ea typeface="Cambria" pitchFamily="34" charset="-122"/>
                <a:cs typeface="Cambria" pitchFamily="34" charset="-120"/>
              </a:defRPr>
            </a:lvl1pPr>
          </a:lstStyle>
          <a:p>
            <a:pPr marL="0" indent="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7FD1BC"/>
                </a:solidFill>
              </a:rPr>
              <a:t>SalaryBridge · DIU CPC × upay AI Hackathon 2026 · all data synthetic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D1B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qshanto/SalaryBridge"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hyperlink" Target="https://salary-bridge-iota.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822960"/>
            <a:ext cx="6583680" cy="365760"/>
          </a:xfrm>
          <a:prstGeom prst="rect">
            <a:avLst/>
          </a:prstGeom>
          <a:noFill/>
          <a:ln/>
        </p:spPr>
        <p:txBody>
          <a:bodyPr wrap="square" lIns="0" tIns="0" rIns="0" bIns="0" rtlCol="0"/>
          <a:lstStyle/>
          <a:p>
            <a:pPr marL="0" indent="0">
              <a:buNone/>
            </a:pPr>
            <a:r>
              <a:rPr lang="en-US" sz="1400" b="1" dirty="0">
                <a:solidFill>
                  <a:schemeClr val="accent5"/>
                </a:solidFill>
              </a:rPr>
              <a:t>DIU CPC × upay AI HACKATHON 2026</a:t>
            </a:r>
            <a:endParaRPr lang="en-US" sz="1400" dirty="0"/>
          </a:p>
        </p:txBody>
      </p:sp>
      <p:sp>
        <p:nvSpPr>
          <p:cNvPr id="3" name="Text 0"/>
          <p:cNvSpPr>
            <a:spLocks noGrp="1"/>
          </p:cNvSpPr>
          <p:nvPr>
            <p:ph type="title" idx="101" hasCustomPrompt="1"/>
          </p:nvPr>
        </p:nvSpPr>
        <p:spPr>
          <a:xfrm>
            <a:off x="640080" y="1280160"/>
            <a:ext cx="6766560" cy="1188720"/>
          </a:xfrm>
          <a:prstGeom prst="rect">
            <a:avLst/>
          </a:prstGeom>
          <a:noFill/>
          <a:ln/>
        </p:spPr>
        <p:txBody>
          <a:bodyPr wrap="square" lIns="0" tIns="0" rIns="0" bIns="0" rtlCol="0" anchor="t"/>
          <a:lstStyle/>
          <a:p>
            <a:pPr marL="0" indent="0" algn="l">
              <a:buNone/>
            </a:pPr>
            <a:r>
              <a:rPr lang="en-US" sz="6000" b="1" dirty="0">
                <a:solidFill>
                  <a:schemeClr val="bg1"/>
                </a:solidFill>
                <a:latin typeface="Cambria" pitchFamily="34" charset="0"/>
                <a:ea typeface="Cambria" pitchFamily="34" charset="-122"/>
                <a:cs typeface="Cambria" pitchFamily="34" charset="-120"/>
              </a:rPr>
              <a:t>SalaryBridge</a:t>
            </a:r>
            <a:endParaRPr lang="en-US" sz="6000" dirty="0"/>
          </a:p>
        </p:txBody>
      </p:sp>
      <p:sp>
        <p:nvSpPr>
          <p:cNvPr id="4" name="Text 0"/>
          <p:cNvSpPr>
            <a:spLocks noGrp="1"/>
          </p:cNvSpPr>
          <p:nvPr>
            <p:ph type="body" idx="102" hasCustomPrompt="1"/>
          </p:nvPr>
        </p:nvSpPr>
        <p:spPr>
          <a:xfrm>
            <a:off x="640080" y="2560320"/>
            <a:ext cx="6583680" cy="1005840"/>
          </a:xfrm>
          <a:prstGeom prst="rect">
            <a:avLst/>
          </a:prstGeom>
          <a:noFill/>
          <a:ln/>
        </p:spPr>
        <p:txBody>
          <a:bodyPr wrap="square" lIns="0" tIns="0" rIns="0" bIns="0" rtlCol="0" anchor="t"/>
          <a:lstStyle/>
          <a:p>
            <a:pPr marL="0" indent="0">
              <a:buNone/>
            </a:pPr>
            <a:r>
              <a:rPr lang="en-US" sz="2000" dirty="0">
                <a:solidFill>
                  <a:schemeClr val="bg2"/>
                </a:solidFill>
              </a:rPr>
              <a:t>Earned wages in the upay wallet before payday. AI sizes each advance, the employer repays it in one transfer, and every decision is explained.</a:t>
            </a:r>
            <a:endParaRPr lang="en-US" sz="2000" dirty="0"/>
          </a:p>
        </p:txBody>
      </p:sp>
      <p:sp>
        <p:nvSpPr>
          <p:cNvPr id="5" name="Bangla tagline"/>
          <p:cNvSpPr txBox="1"/>
          <p:nvPr/>
        </p:nvSpPr>
        <p:spPr>
          <a:xfrm>
            <a:off x="640080" y="3703320"/>
            <a:ext cx="6583680" cy="411480"/>
          </a:xfrm>
          <a:prstGeom prst="rect">
            <a:avLst/>
          </a:prstGeom>
          <a:noFill/>
          <a:ln/>
        </p:spPr>
        <p:txBody>
          <a:bodyPr wrap="square" lIns="0" tIns="0" rIns="0" bIns="0" rtlCol="0" anchor="t"/>
          <a:lstStyle/>
          <a:p>
            <a:pPr marL="0" indent="0">
              <a:buNone/>
            </a:pPr>
            <a:r>
              <a:rPr lang="en-US" sz="1800" dirty="0">
                <a:solidFill>
                  <a:schemeClr val="accent5"/>
                </a:solidFill>
                <a:latin typeface="Nirmala UI" pitchFamily="34" charset="0"/>
                <a:ea typeface="Nirmala UI" pitchFamily="34" charset="-122"/>
                <a:cs typeface="Nirmala UI" pitchFamily="34" charset="-120"/>
              </a:rPr>
              <a:t>বেতনের দিনের আগেই নিজের আয় করা টাকা, upay ওয়ালেটে</a:t>
            </a:r>
            <a:endParaRPr lang="en-US" sz="1800" dirty="0"/>
          </a:p>
        </p:txBody>
      </p:sp>
      <p:sp>
        <p:nvSpPr>
          <p:cNvPr id="6" name="Team card"/>
          <p:cNvSpPr/>
          <p:nvPr/>
        </p:nvSpPr>
        <p:spPr>
          <a:xfrm>
            <a:off x="640080" y="4434840"/>
            <a:ext cx="6400800" cy="1600200"/>
          </a:xfrm>
          <a:prstGeom prst="roundRect">
            <a:avLst>
              <a:gd name="adj" fmla="val 6857"/>
            </a:avLst>
          </a:prstGeom>
          <a:solidFill>
            <a:srgbClr val="124A41"/>
          </a:solidFill>
          <a:ln/>
        </p:spPr>
        <p:txBody>
          <a:bodyPr/>
          <a:lstStyle/>
          <a:p>
            <a:endParaRPr lang="en-US"/>
          </a:p>
        </p:txBody>
      </p:sp>
      <p:sp>
        <p:nvSpPr>
          <p:cNvPr id="7" name="Team name (edit)"/>
          <p:cNvSpPr txBox="1"/>
          <p:nvPr/>
        </p:nvSpPr>
        <p:spPr>
          <a:xfrm>
            <a:off x="914400" y="4617720"/>
            <a:ext cx="5852160" cy="45720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rPr>
              <a:t>NeuroVerse</a:t>
            </a:r>
            <a:endParaRPr lang="en-US" sz="2400" dirty="0"/>
          </a:p>
        </p:txBody>
      </p:sp>
      <p:sp>
        <p:nvSpPr>
          <p:cNvPr id="8" name="Members (edit)"/>
          <p:cNvSpPr txBox="1"/>
          <p:nvPr/>
        </p:nvSpPr>
        <p:spPr>
          <a:xfrm>
            <a:off x="914400" y="5120640"/>
            <a:ext cx="5852160" cy="365760"/>
          </a:xfrm>
          <a:prstGeom prst="rect">
            <a:avLst/>
          </a:prstGeom>
          <a:noFill/>
          <a:ln/>
        </p:spPr>
        <p:txBody>
          <a:bodyPr wrap="square" lIns="0" tIns="0" rIns="0" bIns="0" rtlCol="0" anchor="t"/>
          <a:lstStyle/>
          <a:p>
            <a:pPr marL="0" indent="0">
              <a:buNone/>
            </a:pPr>
            <a:r>
              <a:rPr lang="en-US" sz="1600" dirty="0">
                <a:solidFill>
                  <a:schemeClr val="bg2"/>
                </a:solidFill>
              </a:rPr>
              <a:t>Md Abdul Quym Shanto  ·  Sajid Ahasan  ·  Sakibul Hasan Sakib</a:t>
            </a:r>
            <a:endParaRPr lang="en-US" sz="1600" dirty="0"/>
          </a:p>
        </p:txBody>
      </p:sp>
      <p:sp>
        <p:nvSpPr>
          <p:cNvPr id="9" name="University and track (edit)"/>
          <p:cNvSpPr txBox="1"/>
          <p:nvPr/>
        </p:nvSpPr>
        <p:spPr>
          <a:xfrm>
            <a:off x="914400" y="5486400"/>
            <a:ext cx="5852160" cy="502920"/>
          </a:xfrm>
          <a:prstGeom prst="rect">
            <a:avLst/>
          </a:prstGeom>
          <a:noFill/>
          <a:ln/>
        </p:spPr>
        <p:txBody>
          <a:bodyPr wrap="square" lIns="0" tIns="0" rIns="0" bIns="0" rtlCol="0" anchor="t"/>
          <a:lstStyle/>
          <a:p>
            <a:pPr marL="0" indent="0">
              <a:buNone/>
            </a:pPr>
            <a:r>
              <a:rPr lang="en-US" sz="1400" dirty="0">
                <a:solidFill>
                  <a:schemeClr val="accent5"/>
                </a:solidFill>
              </a:rPr>
              <a:t>Daffodil International University ·  </a:t>
            </a:r>
            <a:br>
              <a:rPr lang="en-US" sz="1400" dirty="0">
                <a:solidFill>
                  <a:schemeClr val="accent5"/>
                </a:solidFill>
              </a:rPr>
            </a:br>
            <a:r>
              <a:rPr lang="en-US" sz="1400" dirty="0">
                <a:solidFill>
                  <a:schemeClr val="accent5"/>
                </a:solidFill>
              </a:rPr>
              <a:t>T</a:t>
            </a:r>
            <a:r>
              <a:rPr lang="en-GB" sz="1400" dirty="0">
                <a:solidFill>
                  <a:schemeClr val="accent5"/>
                </a:solidFill>
              </a:rPr>
              <a:t>rack 03 · Customer Innovation &amp; Financial Independence.</a:t>
            </a:r>
            <a:endParaRPr lang="en-US" sz="1400" dirty="0"/>
          </a:p>
        </p:txBody>
      </p:sp>
      <p:sp>
        <p:nvSpPr>
          <p:cNvPr id="10" name="Employee offer screen frame"/>
          <p:cNvSpPr/>
          <p:nvPr/>
        </p:nvSpPr>
        <p:spPr>
          <a:xfrm>
            <a:off x="8467344" y="603504"/>
            <a:ext cx="2942516" cy="5650992"/>
          </a:xfrm>
          <a:prstGeom prst="roundRect">
            <a:avLst>
              <a:gd name="adj" fmla="val 6837"/>
            </a:avLst>
          </a:prstGeom>
          <a:solidFill>
            <a:srgbClr val="0F1C22"/>
          </a:solidFill>
          <a:ln/>
          <a:effectLst>
            <a:outerShdw blurRad="127000" dist="38100" dir="5400000" algn="bl" rotWithShape="0">
              <a:srgbClr val="000000">
                <a:alpha val="25000"/>
              </a:srgbClr>
            </a:outerShdw>
          </a:effectLst>
        </p:spPr>
        <p:txBody>
          <a:bodyPr/>
          <a:lstStyle/>
          <a:p>
            <a:endParaRPr lang="en-US"/>
          </a:p>
        </p:txBody>
      </p:sp>
      <p:pic>
        <p:nvPicPr>
          <p:cNvPr id="11" name="Employee offer screen" descr="Employee offer screen"/>
          <p:cNvPicPr>
            <a:picLocks noChangeAspect="1"/>
          </p:cNvPicPr>
          <p:nvPr/>
        </p:nvPicPr>
        <p:blipFill>
          <a:blip r:embed="rId3"/>
          <a:stretch>
            <a:fillRect/>
          </a:stretch>
        </p:blipFill>
        <p:spPr>
          <a:xfrm>
            <a:off x="8549640" y="685800"/>
            <a:ext cx="2777924"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By the 20th, wages are earned but out of reach</a:t>
            </a:r>
            <a:endParaRPr lang="en-US" sz="3400" dirty="0"/>
          </a:p>
        </p:txBody>
      </p:sp>
      <p:sp>
        <p:nvSpPr>
          <p:cNvPr id="3" name="Persona card"/>
          <p:cNvSpPr/>
          <p:nvPr/>
        </p:nvSpPr>
        <p:spPr>
          <a:xfrm>
            <a:off x="548640" y="1417320"/>
            <a:ext cx="4937760" cy="4617720"/>
          </a:xfrm>
          <a:prstGeom prst="roundRect">
            <a:avLst>
              <a:gd name="adj" fmla="val 237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4" name="Persona circle"/>
          <p:cNvSpPr/>
          <p:nvPr/>
        </p:nvSpPr>
        <p:spPr>
          <a:xfrm>
            <a:off x="868680" y="1737360"/>
            <a:ext cx="685800" cy="685800"/>
          </a:xfrm>
          <a:prstGeom prst="ellipse">
            <a:avLst/>
          </a:prstGeom>
          <a:solidFill>
            <a:schemeClr val="accent1"/>
          </a:solidFill>
          <a:ln/>
        </p:spPr>
        <p:txBody>
          <a:bodyPr/>
          <a:lstStyle/>
          <a:p>
            <a:endParaRPr lang="en-US"/>
          </a:p>
        </p:txBody>
      </p:sp>
      <p:pic>
        <p:nvPicPr>
          <p:cNvPr id="5" name="Persona icon" descr="Persona icon"/>
          <p:cNvPicPr>
            <a:picLocks noChangeAspect="1"/>
          </p:cNvPicPr>
          <p:nvPr/>
        </p:nvPicPr>
        <p:blipFill>
          <a:blip r:embed="rId3"/>
          <a:stretch>
            <a:fillRect/>
          </a:stretch>
        </p:blipFill>
        <p:spPr>
          <a:xfrm>
            <a:off x="1040130" y="1908810"/>
            <a:ext cx="342900" cy="342900"/>
          </a:xfrm>
          <a:prstGeom prst="rect">
            <a:avLst/>
          </a:prstGeom>
        </p:spPr>
      </p:pic>
      <p:sp>
        <p:nvSpPr>
          <p:cNvPr id="6" name="Text 3"/>
          <p:cNvSpPr txBox="1"/>
          <p:nvPr/>
        </p:nvSpPr>
        <p:spPr>
          <a:xfrm>
            <a:off x="1737360" y="1783080"/>
            <a:ext cx="3566160" cy="365760"/>
          </a:xfrm>
          <a:prstGeom prst="rect">
            <a:avLst/>
          </a:prstGeom>
          <a:noFill/>
          <a:ln/>
        </p:spPr>
        <p:txBody>
          <a:bodyPr wrap="square" lIns="0" tIns="0" rIns="0" bIns="0" rtlCol="0" anchor="t"/>
          <a:lstStyle/>
          <a:p>
            <a:pPr marL="0" indent="0">
              <a:buNone/>
            </a:pPr>
            <a:r>
              <a:rPr lang="en-US" sz="2000" b="1" dirty="0">
                <a:solidFill>
                  <a:schemeClr val="tx1"/>
                </a:solidFill>
              </a:rPr>
              <a:t>Rahim, garment worker</a:t>
            </a:r>
            <a:endParaRPr lang="en-US" sz="2000" dirty="0"/>
          </a:p>
        </p:txBody>
      </p:sp>
      <p:sp>
        <p:nvSpPr>
          <p:cNvPr id="7" name="Text 4"/>
          <p:cNvSpPr txBox="1"/>
          <p:nvPr/>
        </p:nvSpPr>
        <p:spPr>
          <a:xfrm>
            <a:off x="1737360" y="2148840"/>
            <a:ext cx="3566160" cy="320040"/>
          </a:xfrm>
          <a:prstGeom prst="rect">
            <a:avLst/>
          </a:prstGeom>
          <a:noFill/>
          <a:ln/>
        </p:spPr>
        <p:txBody>
          <a:bodyPr wrap="square" lIns="0" tIns="0" rIns="0" bIns="0" rtlCol="0" anchor="t"/>
          <a:lstStyle/>
          <a:p>
            <a:pPr marL="0" indent="0">
              <a:buNone/>
            </a:pPr>
            <a:r>
              <a:rPr lang="en-US" sz="1400" dirty="0">
                <a:solidFill>
                  <a:schemeClr val="accent6"/>
                </a:solidFill>
              </a:rPr>
              <a:t>Salary ৳18,000, paid on the 1st</a:t>
            </a:r>
            <a:endParaRPr lang="en-US" sz="1400" dirty="0"/>
          </a:p>
        </p:txBody>
      </p:sp>
      <p:sp>
        <p:nvSpPr>
          <p:cNvPr id="8" name="Text 5"/>
          <p:cNvSpPr txBox="1"/>
          <p:nvPr/>
        </p:nvSpPr>
        <p:spPr>
          <a:xfrm>
            <a:off x="868680" y="2788920"/>
            <a:ext cx="4297680" cy="274320"/>
          </a:xfrm>
          <a:prstGeom prst="rect">
            <a:avLst/>
          </a:prstGeom>
          <a:noFill/>
          <a:ln/>
        </p:spPr>
        <p:txBody>
          <a:bodyPr wrap="square" lIns="0" tIns="0" rIns="0" bIns="0" rtlCol="0" anchor="t"/>
          <a:lstStyle/>
          <a:p>
            <a:pPr marL="0" indent="0">
              <a:buNone/>
            </a:pPr>
            <a:r>
              <a:rPr lang="en-US" sz="1400" dirty="0">
                <a:solidFill>
                  <a:schemeClr val="accent6"/>
                </a:solidFill>
              </a:rPr>
              <a:t>Earned by 20 October</a:t>
            </a:r>
            <a:endParaRPr lang="en-US" sz="1400" dirty="0"/>
          </a:p>
        </p:txBody>
      </p:sp>
      <p:sp>
        <p:nvSpPr>
          <p:cNvPr id="9" name="Text 6"/>
          <p:cNvSpPr txBox="1"/>
          <p:nvPr/>
        </p:nvSpPr>
        <p:spPr>
          <a:xfrm>
            <a:off x="868680" y="3063240"/>
            <a:ext cx="4297680" cy="822960"/>
          </a:xfrm>
          <a:prstGeom prst="rect">
            <a:avLst/>
          </a:prstGeom>
          <a:noFill/>
          <a:ln/>
        </p:spPr>
        <p:txBody>
          <a:bodyPr wrap="square" lIns="0" tIns="0" rIns="0" bIns="0" rtlCol="0" anchor="t"/>
          <a:lstStyle/>
          <a:p>
            <a:pPr marL="0" indent="0">
              <a:buNone/>
            </a:pPr>
            <a:r>
              <a:rPr lang="en-US" sz="5400" b="1" dirty="0">
                <a:solidFill>
                  <a:schemeClr val="accent1"/>
                </a:solidFill>
              </a:rPr>
              <a:t>৳11,612</a:t>
            </a:r>
            <a:endParaRPr lang="en-US" sz="5400" dirty="0"/>
          </a:p>
        </p:txBody>
      </p:sp>
      <p:sp>
        <p:nvSpPr>
          <p:cNvPr id="10" name="Text 7"/>
          <p:cNvSpPr txBox="1"/>
          <p:nvPr/>
        </p:nvSpPr>
        <p:spPr>
          <a:xfrm>
            <a:off x="868680" y="3977640"/>
            <a:ext cx="4297680" cy="274320"/>
          </a:xfrm>
          <a:prstGeom prst="rect">
            <a:avLst/>
          </a:prstGeom>
          <a:noFill/>
          <a:ln/>
        </p:spPr>
        <p:txBody>
          <a:bodyPr wrap="square" lIns="0" tIns="0" rIns="0" bIns="0" rtlCol="0" anchor="t"/>
          <a:lstStyle/>
          <a:p>
            <a:pPr marL="0" indent="0">
              <a:buNone/>
            </a:pPr>
            <a:r>
              <a:rPr lang="en-US" sz="1400" dirty="0">
                <a:solidFill>
                  <a:schemeClr val="accent6"/>
                </a:solidFill>
              </a:rPr>
              <a:t>Reachable today without SalaryBridge</a:t>
            </a:r>
            <a:endParaRPr lang="en-US" sz="1400" dirty="0"/>
          </a:p>
        </p:txBody>
      </p:sp>
      <p:sp>
        <p:nvSpPr>
          <p:cNvPr id="11" name="Text 8"/>
          <p:cNvSpPr txBox="1"/>
          <p:nvPr/>
        </p:nvSpPr>
        <p:spPr>
          <a:xfrm>
            <a:off x="868680" y="4251960"/>
            <a:ext cx="4297680" cy="822960"/>
          </a:xfrm>
          <a:prstGeom prst="rect">
            <a:avLst/>
          </a:prstGeom>
          <a:noFill/>
          <a:ln/>
        </p:spPr>
        <p:txBody>
          <a:bodyPr wrap="square" lIns="0" tIns="0" rIns="0" bIns="0" rtlCol="0" anchor="t"/>
          <a:lstStyle/>
          <a:p>
            <a:pPr marL="0" indent="0">
              <a:buNone/>
            </a:pPr>
            <a:r>
              <a:rPr lang="en-US" sz="5400" b="1" dirty="0">
                <a:solidFill>
                  <a:schemeClr val="accent4"/>
                </a:solidFill>
              </a:rPr>
              <a:t>৳0</a:t>
            </a:r>
            <a:endParaRPr lang="en-US" sz="5400" dirty="0"/>
          </a:p>
        </p:txBody>
      </p:sp>
      <p:sp>
        <p:nvSpPr>
          <p:cNvPr id="12" name="Text 9"/>
          <p:cNvSpPr txBox="1"/>
          <p:nvPr/>
        </p:nvSpPr>
        <p:spPr>
          <a:xfrm>
            <a:off x="868680" y="5440680"/>
            <a:ext cx="4389120" cy="274320"/>
          </a:xfrm>
          <a:prstGeom prst="rect">
            <a:avLst/>
          </a:prstGeom>
          <a:noFill/>
          <a:ln/>
        </p:spPr>
        <p:txBody>
          <a:bodyPr wrap="square" lIns="0" tIns="0" rIns="0" bIns="0" rtlCol="0" anchor="t"/>
          <a:lstStyle/>
          <a:p>
            <a:pPr marL="0" indent="0">
              <a:buNone/>
            </a:pPr>
            <a:r>
              <a:rPr lang="en-US" sz="1100" i="1" dirty="0">
                <a:solidFill>
                  <a:schemeClr val="accent6"/>
                </a:solidFill>
              </a:rPr>
              <a:t>Figures from the SalaryBridge sandbox (synthetic persona).</a:t>
            </a:r>
            <a:endParaRPr lang="en-US" sz="1100" dirty="0"/>
          </a:p>
        </p:txBody>
      </p:sp>
      <p:sp>
        <p:nvSpPr>
          <p:cNvPr id="13" name="The gap is filled informally circle"/>
          <p:cNvSpPr/>
          <p:nvPr/>
        </p:nvSpPr>
        <p:spPr>
          <a:xfrm>
            <a:off x="6035040" y="1463040"/>
            <a:ext cx="640080" cy="640080"/>
          </a:xfrm>
          <a:prstGeom prst="ellipse">
            <a:avLst/>
          </a:prstGeom>
          <a:solidFill>
            <a:schemeClr val="accent1"/>
          </a:solidFill>
          <a:ln/>
        </p:spPr>
        <p:txBody>
          <a:bodyPr/>
          <a:lstStyle/>
          <a:p>
            <a:endParaRPr lang="en-US"/>
          </a:p>
        </p:txBody>
      </p:sp>
      <p:pic>
        <p:nvPicPr>
          <p:cNvPr id="14" name="The gap is filled informally icon" descr="The gap is filled informally icon"/>
          <p:cNvPicPr>
            <a:picLocks noChangeAspect="1"/>
          </p:cNvPicPr>
          <p:nvPr/>
        </p:nvPicPr>
        <p:blipFill>
          <a:blip r:embed="rId4"/>
          <a:stretch>
            <a:fillRect/>
          </a:stretch>
        </p:blipFill>
        <p:spPr>
          <a:xfrm>
            <a:off x="6195060" y="1623060"/>
            <a:ext cx="320040" cy="320040"/>
          </a:xfrm>
          <a:prstGeom prst="rect">
            <a:avLst/>
          </a:prstGeom>
        </p:spPr>
      </p:pic>
      <p:sp>
        <p:nvSpPr>
          <p:cNvPr id="15" name="Text 11"/>
          <p:cNvSpPr txBox="1"/>
          <p:nvPr/>
        </p:nvSpPr>
        <p:spPr>
          <a:xfrm>
            <a:off x="6903720" y="1444752"/>
            <a:ext cx="4754880" cy="365760"/>
          </a:xfrm>
          <a:prstGeom prst="rect">
            <a:avLst/>
          </a:prstGeom>
          <a:noFill/>
          <a:ln/>
        </p:spPr>
        <p:txBody>
          <a:bodyPr wrap="square" lIns="0" tIns="0" rIns="0" bIns="0" rtlCol="0" anchor="t"/>
          <a:lstStyle/>
          <a:p>
            <a:pPr marL="0" indent="0">
              <a:buNone/>
            </a:pPr>
            <a:r>
              <a:rPr lang="en-US" sz="2000" b="1" dirty="0">
                <a:solidFill>
                  <a:schemeClr val="tx1"/>
                </a:solidFill>
              </a:rPr>
              <a:t>The gap is filled informally</a:t>
            </a:r>
            <a:endParaRPr lang="en-US" sz="2000" dirty="0"/>
          </a:p>
        </p:txBody>
      </p:sp>
      <p:sp>
        <p:nvSpPr>
          <p:cNvPr id="16" name="Text 12"/>
          <p:cNvSpPr txBox="1"/>
          <p:nvPr/>
        </p:nvSpPr>
        <p:spPr>
          <a:xfrm>
            <a:off x="6903720" y="1847088"/>
            <a:ext cx="4754880" cy="777240"/>
          </a:xfrm>
          <a:prstGeom prst="rect">
            <a:avLst/>
          </a:prstGeom>
          <a:noFill/>
          <a:ln/>
        </p:spPr>
        <p:txBody>
          <a:bodyPr wrap="square" lIns="0" tIns="0" rIns="0" bIns="0" rtlCol="0" anchor="t"/>
          <a:lstStyle/>
          <a:p>
            <a:pPr marL="0" indent="0">
              <a:buNone/>
            </a:pPr>
            <a:r>
              <a:rPr lang="en-US" sz="1500" dirty="0">
                <a:solidFill>
                  <a:schemeClr val="accent6"/>
                </a:solidFill>
              </a:rPr>
              <a:t>Shop credit, advances from a supervisor or a moneylender: costly, opaque and outside any wallet.</a:t>
            </a:r>
            <a:endParaRPr lang="en-US" sz="1500" dirty="0"/>
          </a:p>
        </p:txBody>
      </p:sp>
      <p:sp>
        <p:nvSpPr>
          <p:cNvPr id="17" name="Lenders cannot see wages circle"/>
          <p:cNvSpPr/>
          <p:nvPr/>
        </p:nvSpPr>
        <p:spPr>
          <a:xfrm>
            <a:off x="6035040" y="2926080"/>
            <a:ext cx="640080" cy="640080"/>
          </a:xfrm>
          <a:prstGeom prst="ellipse">
            <a:avLst/>
          </a:prstGeom>
          <a:solidFill>
            <a:schemeClr val="accent1"/>
          </a:solidFill>
          <a:ln/>
        </p:spPr>
        <p:txBody>
          <a:bodyPr/>
          <a:lstStyle/>
          <a:p>
            <a:endParaRPr lang="en-US"/>
          </a:p>
        </p:txBody>
      </p:sp>
      <p:pic>
        <p:nvPicPr>
          <p:cNvPr id="18" name="Lenders cannot see wages icon" descr="Lenders cannot see wages icon"/>
          <p:cNvPicPr>
            <a:picLocks noChangeAspect="1"/>
          </p:cNvPicPr>
          <p:nvPr/>
        </p:nvPicPr>
        <p:blipFill>
          <a:blip r:embed="rId5"/>
          <a:stretch>
            <a:fillRect/>
          </a:stretch>
        </p:blipFill>
        <p:spPr>
          <a:xfrm>
            <a:off x="6195060" y="3086100"/>
            <a:ext cx="320040" cy="320040"/>
          </a:xfrm>
          <a:prstGeom prst="rect">
            <a:avLst/>
          </a:prstGeom>
        </p:spPr>
      </p:pic>
      <p:sp>
        <p:nvSpPr>
          <p:cNvPr id="19" name="Text 14"/>
          <p:cNvSpPr txBox="1"/>
          <p:nvPr/>
        </p:nvSpPr>
        <p:spPr>
          <a:xfrm>
            <a:off x="6903720" y="2907792"/>
            <a:ext cx="4754880" cy="365760"/>
          </a:xfrm>
          <a:prstGeom prst="rect">
            <a:avLst/>
          </a:prstGeom>
          <a:noFill/>
          <a:ln/>
        </p:spPr>
        <p:txBody>
          <a:bodyPr wrap="square" lIns="0" tIns="0" rIns="0" bIns="0" rtlCol="0" anchor="t"/>
          <a:lstStyle/>
          <a:p>
            <a:pPr marL="0" indent="0">
              <a:buNone/>
            </a:pPr>
            <a:r>
              <a:rPr lang="en-US" sz="2000" b="1" dirty="0">
                <a:solidFill>
                  <a:schemeClr val="tx1"/>
                </a:solidFill>
              </a:rPr>
              <a:t>Lenders cannot see wages</a:t>
            </a:r>
            <a:endParaRPr lang="en-US" sz="2000" dirty="0"/>
          </a:p>
        </p:txBody>
      </p:sp>
      <p:sp>
        <p:nvSpPr>
          <p:cNvPr id="20" name="Text 15"/>
          <p:cNvSpPr txBox="1"/>
          <p:nvPr/>
        </p:nvSpPr>
        <p:spPr>
          <a:xfrm>
            <a:off x="6903720" y="3310128"/>
            <a:ext cx="4754880" cy="777240"/>
          </a:xfrm>
          <a:prstGeom prst="rect">
            <a:avLst/>
          </a:prstGeom>
          <a:noFill/>
          <a:ln/>
        </p:spPr>
        <p:txBody>
          <a:bodyPr wrap="square" lIns="0" tIns="0" rIns="0" bIns="0" rtlCol="0" anchor="t"/>
          <a:lstStyle/>
          <a:p>
            <a:pPr marL="0" indent="0">
              <a:buNone/>
            </a:pPr>
            <a:r>
              <a:rPr lang="en-US" sz="1500" dirty="0">
                <a:solidFill>
                  <a:schemeClr val="accent6"/>
                </a:solidFill>
              </a:rPr>
              <a:t>Without payroll data nobody can size a safe advance, so the answer is usually no.</a:t>
            </a:r>
            <a:endParaRPr lang="en-US" sz="1500" dirty="0"/>
          </a:p>
        </p:txBody>
      </p:sp>
      <p:sp>
        <p:nvSpPr>
          <p:cNvPr id="21" name="Employers will not run it circle"/>
          <p:cNvSpPr/>
          <p:nvPr/>
        </p:nvSpPr>
        <p:spPr>
          <a:xfrm>
            <a:off x="6035040" y="4389120"/>
            <a:ext cx="640080" cy="640080"/>
          </a:xfrm>
          <a:prstGeom prst="ellipse">
            <a:avLst/>
          </a:prstGeom>
          <a:solidFill>
            <a:schemeClr val="accent1"/>
          </a:solidFill>
          <a:ln/>
        </p:spPr>
        <p:txBody>
          <a:bodyPr/>
          <a:lstStyle/>
          <a:p>
            <a:endParaRPr lang="en-US"/>
          </a:p>
        </p:txBody>
      </p:sp>
      <p:pic>
        <p:nvPicPr>
          <p:cNvPr id="22" name="Employers will not run it icon" descr="Employers will not run it icon"/>
          <p:cNvPicPr>
            <a:picLocks noChangeAspect="1"/>
          </p:cNvPicPr>
          <p:nvPr/>
        </p:nvPicPr>
        <p:blipFill>
          <a:blip r:embed="rId6"/>
          <a:stretch>
            <a:fillRect/>
          </a:stretch>
        </p:blipFill>
        <p:spPr>
          <a:xfrm>
            <a:off x="6195060" y="4549140"/>
            <a:ext cx="320040" cy="320040"/>
          </a:xfrm>
          <a:prstGeom prst="rect">
            <a:avLst/>
          </a:prstGeom>
        </p:spPr>
      </p:pic>
      <p:sp>
        <p:nvSpPr>
          <p:cNvPr id="23" name="Text 17"/>
          <p:cNvSpPr txBox="1"/>
          <p:nvPr/>
        </p:nvSpPr>
        <p:spPr>
          <a:xfrm>
            <a:off x="6903720" y="4370832"/>
            <a:ext cx="4754880" cy="365760"/>
          </a:xfrm>
          <a:prstGeom prst="rect">
            <a:avLst/>
          </a:prstGeom>
          <a:noFill/>
          <a:ln/>
        </p:spPr>
        <p:txBody>
          <a:bodyPr wrap="square" lIns="0" tIns="0" rIns="0" bIns="0" rtlCol="0" anchor="t"/>
          <a:lstStyle/>
          <a:p>
            <a:pPr marL="0" indent="0">
              <a:buNone/>
            </a:pPr>
            <a:r>
              <a:rPr lang="en-US" sz="2000" b="1" dirty="0">
                <a:solidFill>
                  <a:schemeClr val="tx1"/>
                </a:solidFill>
              </a:rPr>
              <a:t>Employers will not run it</a:t>
            </a:r>
            <a:endParaRPr lang="en-US" sz="2000" dirty="0"/>
          </a:p>
        </p:txBody>
      </p:sp>
      <p:sp>
        <p:nvSpPr>
          <p:cNvPr id="24" name="Text 18"/>
          <p:cNvSpPr txBox="1"/>
          <p:nvPr/>
        </p:nvSpPr>
        <p:spPr>
          <a:xfrm>
            <a:off x="6903720" y="4773168"/>
            <a:ext cx="4754880" cy="777240"/>
          </a:xfrm>
          <a:prstGeom prst="rect">
            <a:avLst/>
          </a:prstGeom>
          <a:noFill/>
          <a:ln/>
        </p:spPr>
        <p:txBody>
          <a:bodyPr wrap="square" lIns="0" tIns="0" rIns="0" bIns="0" rtlCol="0" anchor="t"/>
          <a:lstStyle/>
          <a:p>
            <a:pPr marL="0" indent="0">
              <a:buNone/>
            </a:pPr>
            <a:r>
              <a:rPr lang="en-US" sz="1500" dirty="0">
                <a:solidFill>
                  <a:schemeClr val="accent6"/>
                </a:solidFill>
              </a:rPr>
              <a:t>Cash advances mean paperwork, recovery work and risk that HR does not want.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How SalaryBridge works</a:t>
            </a:r>
            <a:endParaRPr lang="en-US" sz="3400" dirty="0"/>
          </a:p>
        </p:txBody>
      </p:sp>
      <p:sp>
        <p:nvSpPr>
          <p:cNvPr id="3" name="Step 1"/>
          <p:cNvSpPr/>
          <p:nvPr/>
        </p:nvSpPr>
        <p:spPr>
          <a:xfrm>
            <a:off x="548640" y="1463040"/>
            <a:ext cx="2606040" cy="2743200"/>
          </a:xfrm>
          <a:prstGeom prst="roundRect">
            <a:avLst>
              <a:gd name="adj" fmla="val 4211"/>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4" name="Step 1 circle"/>
          <p:cNvSpPr/>
          <p:nvPr/>
        </p:nvSpPr>
        <p:spPr>
          <a:xfrm>
            <a:off x="822960" y="1737360"/>
            <a:ext cx="685800" cy="685800"/>
          </a:xfrm>
          <a:prstGeom prst="ellipse">
            <a:avLst/>
          </a:prstGeom>
          <a:solidFill>
            <a:schemeClr val="accent1"/>
          </a:solidFill>
          <a:ln/>
        </p:spPr>
        <p:txBody>
          <a:bodyPr/>
          <a:lstStyle/>
          <a:p>
            <a:endParaRPr lang="en-US"/>
          </a:p>
        </p:txBody>
      </p:sp>
      <p:pic>
        <p:nvPicPr>
          <p:cNvPr id="5" name="Step 1 icon" descr="Step 1 icon"/>
          <p:cNvPicPr>
            <a:picLocks noChangeAspect="1"/>
          </p:cNvPicPr>
          <p:nvPr/>
        </p:nvPicPr>
        <p:blipFill>
          <a:blip r:embed="rId3"/>
          <a:stretch>
            <a:fillRect/>
          </a:stretch>
        </p:blipFill>
        <p:spPr>
          <a:xfrm>
            <a:off x="994410" y="1908810"/>
            <a:ext cx="342900" cy="342900"/>
          </a:xfrm>
          <a:prstGeom prst="rect">
            <a:avLst/>
          </a:prstGeom>
        </p:spPr>
      </p:pic>
      <p:sp>
        <p:nvSpPr>
          <p:cNvPr id="6" name="Text 3"/>
          <p:cNvSpPr txBox="1"/>
          <p:nvPr/>
        </p:nvSpPr>
        <p:spPr>
          <a:xfrm>
            <a:off x="2468880" y="1691640"/>
            <a:ext cx="457200" cy="548640"/>
          </a:xfrm>
          <a:prstGeom prst="rect">
            <a:avLst/>
          </a:prstGeom>
          <a:noFill/>
          <a:ln/>
        </p:spPr>
        <p:txBody>
          <a:bodyPr wrap="square" lIns="0" tIns="0" rIns="0" bIns="0" rtlCol="0" anchor="t"/>
          <a:lstStyle/>
          <a:p>
            <a:pPr marL="0" indent="0" algn="r">
              <a:buNone/>
            </a:pPr>
            <a:r>
              <a:rPr lang="en-US" sz="3200" b="1" dirty="0">
                <a:solidFill>
                  <a:srgbClr val="B9D9CF"/>
                </a:solidFill>
              </a:rPr>
              <a:t>1</a:t>
            </a:r>
            <a:endParaRPr lang="en-US" sz="3200" dirty="0"/>
          </a:p>
        </p:txBody>
      </p:sp>
      <p:sp>
        <p:nvSpPr>
          <p:cNvPr id="7" name="Text 4"/>
          <p:cNvSpPr txBox="1"/>
          <p:nvPr/>
        </p:nvSpPr>
        <p:spPr>
          <a:xfrm>
            <a:off x="822960" y="2606040"/>
            <a:ext cx="2148840" cy="411480"/>
          </a:xfrm>
          <a:prstGeom prst="rect">
            <a:avLst/>
          </a:prstGeom>
          <a:noFill/>
          <a:ln/>
        </p:spPr>
        <p:txBody>
          <a:bodyPr wrap="square" lIns="0" tIns="0" rIns="0" bIns="0" rtlCol="0" anchor="t"/>
          <a:lstStyle/>
          <a:p>
            <a:pPr marL="0" indent="0">
              <a:buNone/>
            </a:pPr>
            <a:r>
              <a:rPr lang="en-US" sz="1800" b="1" dirty="0">
                <a:solidFill>
                  <a:schemeClr val="tx1"/>
                </a:solidFill>
              </a:rPr>
              <a:t>Employer opts in</a:t>
            </a:r>
            <a:endParaRPr lang="en-US" sz="1800" dirty="0"/>
          </a:p>
        </p:txBody>
      </p:sp>
      <p:sp>
        <p:nvSpPr>
          <p:cNvPr id="8" name="Text 5"/>
          <p:cNvSpPr txBox="1"/>
          <p:nvPr/>
        </p:nvSpPr>
        <p:spPr>
          <a:xfrm>
            <a:off x="822960" y="3063240"/>
            <a:ext cx="2148840" cy="1051560"/>
          </a:xfrm>
          <a:prstGeom prst="rect">
            <a:avLst/>
          </a:prstGeom>
          <a:noFill/>
          <a:ln/>
        </p:spPr>
        <p:txBody>
          <a:bodyPr wrap="square" lIns="0" tIns="0" rIns="0" bIns="0" rtlCol="0" anchor="t"/>
          <a:lstStyle/>
          <a:p>
            <a:pPr marL="0" indent="0">
              <a:buNone/>
            </a:pPr>
            <a:r>
              <a:rPr lang="en-US" sz="1400" dirty="0">
                <a:solidFill>
                  <a:schemeClr val="accent6"/>
                </a:solidFill>
              </a:rPr>
              <a:t>HR chooses a limit (up to 20% of salary). No cash, no paperwork.</a:t>
            </a:r>
            <a:endParaRPr lang="en-US" sz="1400" dirty="0"/>
          </a:p>
        </p:txBody>
      </p:sp>
      <p:sp>
        <p:nvSpPr>
          <p:cNvPr id="9" name="Text 6"/>
          <p:cNvSpPr txBox="1"/>
          <p:nvPr/>
        </p:nvSpPr>
        <p:spPr>
          <a:xfrm>
            <a:off x="3154680" y="2514600"/>
            <a:ext cx="228600" cy="548640"/>
          </a:xfrm>
          <a:prstGeom prst="rect">
            <a:avLst/>
          </a:prstGeom>
          <a:noFill/>
          <a:ln/>
        </p:spPr>
        <p:txBody>
          <a:bodyPr wrap="square" lIns="0" tIns="0" rIns="0" bIns="0" rtlCol="0" anchor="t"/>
          <a:lstStyle/>
          <a:p>
            <a:pPr marL="0" indent="0" algn="ctr">
              <a:buNone/>
            </a:pPr>
            <a:r>
              <a:rPr lang="en-US" sz="3000" b="1" dirty="0">
                <a:solidFill>
                  <a:schemeClr val="accent1"/>
                </a:solidFill>
              </a:rPr>
              <a:t>›</a:t>
            </a:r>
            <a:endParaRPr lang="en-US" sz="3000" dirty="0"/>
          </a:p>
        </p:txBody>
      </p:sp>
      <p:sp>
        <p:nvSpPr>
          <p:cNvPr id="10" name="Step 2"/>
          <p:cNvSpPr/>
          <p:nvPr/>
        </p:nvSpPr>
        <p:spPr>
          <a:xfrm>
            <a:off x="3383280" y="1463040"/>
            <a:ext cx="2606040" cy="2743200"/>
          </a:xfrm>
          <a:prstGeom prst="roundRect">
            <a:avLst>
              <a:gd name="adj" fmla="val 4211"/>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11" name="Step 2 circle"/>
          <p:cNvSpPr/>
          <p:nvPr/>
        </p:nvSpPr>
        <p:spPr>
          <a:xfrm>
            <a:off x="3657600" y="1737360"/>
            <a:ext cx="685800" cy="685800"/>
          </a:xfrm>
          <a:prstGeom prst="ellipse">
            <a:avLst/>
          </a:prstGeom>
          <a:solidFill>
            <a:schemeClr val="accent1"/>
          </a:solidFill>
          <a:ln/>
        </p:spPr>
        <p:txBody>
          <a:bodyPr/>
          <a:lstStyle/>
          <a:p>
            <a:endParaRPr lang="en-US"/>
          </a:p>
        </p:txBody>
      </p:sp>
      <p:pic>
        <p:nvPicPr>
          <p:cNvPr id="12" name="Step 2 icon" descr="Step 2 icon"/>
          <p:cNvPicPr>
            <a:picLocks noChangeAspect="1"/>
          </p:cNvPicPr>
          <p:nvPr/>
        </p:nvPicPr>
        <p:blipFill>
          <a:blip r:embed="rId4"/>
          <a:stretch>
            <a:fillRect/>
          </a:stretch>
        </p:blipFill>
        <p:spPr>
          <a:xfrm>
            <a:off x="3829050" y="1908810"/>
            <a:ext cx="342900" cy="342900"/>
          </a:xfrm>
          <a:prstGeom prst="rect">
            <a:avLst/>
          </a:prstGeom>
        </p:spPr>
      </p:pic>
      <p:sp>
        <p:nvSpPr>
          <p:cNvPr id="13" name="Text 9"/>
          <p:cNvSpPr txBox="1"/>
          <p:nvPr/>
        </p:nvSpPr>
        <p:spPr>
          <a:xfrm>
            <a:off x="5303520" y="1691640"/>
            <a:ext cx="457200" cy="548640"/>
          </a:xfrm>
          <a:prstGeom prst="rect">
            <a:avLst/>
          </a:prstGeom>
          <a:noFill/>
          <a:ln/>
        </p:spPr>
        <p:txBody>
          <a:bodyPr wrap="square" lIns="0" tIns="0" rIns="0" bIns="0" rtlCol="0" anchor="t"/>
          <a:lstStyle/>
          <a:p>
            <a:pPr marL="0" indent="0" algn="r">
              <a:buNone/>
            </a:pPr>
            <a:r>
              <a:rPr lang="en-US" sz="3200" b="1" dirty="0">
                <a:solidFill>
                  <a:srgbClr val="B9D9CF"/>
                </a:solidFill>
              </a:rPr>
              <a:t>2</a:t>
            </a:r>
            <a:endParaRPr lang="en-US" sz="3200" dirty="0"/>
          </a:p>
        </p:txBody>
      </p:sp>
      <p:sp>
        <p:nvSpPr>
          <p:cNvPr id="14" name="Text 10"/>
          <p:cNvSpPr txBox="1"/>
          <p:nvPr/>
        </p:nvSpPr>
        <p:spPr>
          <a:xfrm>
            <a:off x="3657600" y="2606040"/>
            <a:ext cx="2148840" cy="411480"/>
          </a:xfrm>
          <a:prstGeom prst="rect">
            <a:avLst/>
          </a:prstGeom>
          <a:noFill/>
          <a:ln/>
        </p:spPr>
        <p:txBody>
          <a:bodyPr wrap="square" lIns="0" tIns="0" rIns="0" bIns="0" rtlCol="0" anchor="t"/>
          <a:lstStyle/>
          <a:p>
            <a:pPr marL="0" indent="0">
              <a:buNone/>
            </a:pPr>
            <a:r>
              <a:rPr lang="en-US" sz="1800" b="1" dirty="0">
                <a:solidFill>
                  <a:schemeClr val="tx1"/>
                </a:solidFill>
              </a:rPr>
              <a:t>Worker asks in upay</a:t>
            </a:r>
            <a:endParaRPr lang="en-US" sz="1800" dirty="0"/>
          </a:p>
        </p:txBody>
      </p:sp>
      <p:sp>
        <p:nvSpPr>
          <p:cNvPr id="15" name="Text 11"/>
          <p:cNvSpPr txBox="1"/>
          <p:nvPr/>
        </p:nvSpPr>
        <p:spPr>
          <a:xfrm>
            <a:off x="3657600" y="3063240"/>
            <a:ext cx="2148840" cy="1051560"/>
          </a:xfrm>
          <a:prstGeom prst="rect">
            <a:avLst/>
          </a:prstGeom>
          <a:noFill/>
          <a:ln/>
        </p:spPr>
        <p:txBody>
          <a:bodyPr wrap="square" lIns="0" tIns="0" rIns="0" bIns="0" rtlCol="0" anchor="t"/>
          <a:lstStyle/>
          <a:p>
            <a:pPr marL="0" indent="0">
              <a:buNone/>
            </a:pPr>
            <a:r>
              <a:rPr lang="en-US" sz="1400" dirty="0">
                <a:solidFill>
                  <a:schemeClr val="accent6"/>
                </a:solidFill>
              </a:rPr>
              <a:t>AI sizes the offer in seconds and explains it in English or Bangla.</a:t>
            </a:r>
            <a:endParaRPr lang="en-US" sz="1400" dirty="0"/>
          </a:p>
        </p:txBody>
      </p:sp>
      <p:sp>
        <p:nvSpPr>
          <p:cNvPr id="16" name="Text 12"/>
          <p:cNvSpPr txBox="1"/>
          <p:nvPr/>
        </p:nvSpPr>
        <p:spPr>
          <a:xfrm>
            <a:off x="5989320" y="2514600"/>
            <a:ext cx="228600" cy="548640"/>
          </a:xfrm>
          <a:prstGeom prst="rect">
            <a:avLst/>
          </a:prstGeom>
          <a:noFill/>
          <a:ln/>
        </p:spPr>
        <p:txBody>
          <a:bodyPr wrap="square" lIns="0" tIns="0" rIns="0" bIns="0" rtlCol="0" anchor="t"/>
          <a:lstStyle/>
          <a:p>
            <a:pPr marL="0" indent="0" algn="ctr">
              <a:buNone/>
            </a:pPr>
            <a:r>
              <a:rPr lang="en-US" sz="3000" b="1" dirty="0">
                <a:solidFill>
                  <a:schemeClr val="accent1"/>
                </a:solidFill>
              </a:rPr>
              <a:t>›</a:t>
            </a:r>
            <a:endParaRPr lang="en-US" sz="3000" dirty="0"/>
          </a:p>
        </p:txBody>
      </p:sp>
      <p:sp>
        <p:nvSpPr>
          <p:cNvPr id="17" name="Step 3"/>
          <p:cNvSpPr/>
          <p:nvPr/>
        </p:nvSpPr>
        <p:spPr>
          <a:xfrm>
            <a:off x="6217920" y="1463040"/>
            <a:ext cx="2606040" cy="2743200"/>
          </a:xfrm>
          <a:prstGeom prst="roundRect">
            <a:avLst>
              <a:gd name="adj" fmla="val 4211"/>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18" name="Step 3 circle"/>
          <p:cNvSpPr/>
          <p:nvPr/>
        </p:nvSpPr>
        <p:spPr>
          <a:xfrm>
            <a:off x="6492240" y="1737360"/>
            <a:ext cx="685800" cy="685800"/>
          </a:xfrm>
          <a:prstGeom prst="ellipse">
            <a:avLst/>
          </a:prstGeom>
          <a:solidFill>
            <a:schemeClr val="accent1"/>
          </a:solidFill>
          <a:ln/>
        </p:spPr>
        <p:txBody>
          <a:bodyPr/>
          <a:lstStyle/>
          <a:p>
            <a:endParaRPr lang="en-US"/>
          </a:p>
        </p:txBody>
      </p:sp>
      <p:pic>
        <p:nvPicPr>
          <p:cNvPr id="19" name="Step 3 icon" descr="Step 3 icon"/>
          <p:cNvPicPr>
            <a:picLocks noChangeAspect="1"/>
          </p:cNvPicPr>
          <p:nvPr/>
        </p:nvPicPr>
        <p:blipFill>
          <a:blip r:embed="rId5"/>
          <a:stretch>
            <a:fillRect/>
          </a:stretch>
        </p:blipFill>
        <p:spPr>
          <a:xfrm>
            <a:off x="6663690" y="1908810"/>
            <a:ext cx="342900" cy="342900"/>
          </a:xfrm>
          <a:prstGeom prst="rect">
            <a:avLst/>
          </a:prstGeom>
        </p:spPr>
      </p:pic>
      <p:sp>
        <p:nvSpPr>
          <p:cNvPr id="20" name="Text 15"/>
          <p:cNvSpPr txBox="1"/>
          <p:nvPr/>
        </p:nvSpPr>
        <p:spPr>
          <a:xfrm>
            <a:off x="8138160" y="1691640"/>
            <a:ext cx="457200" cy="548640"/>
          </a:xfrm>
          <a:prstGeom prst="rect">
            <a:avLst/>
          </a:prstGeom>
          <a:noFill/>
          <a:ln/>
        </p:spPr>
        <p:txBody>
          <a:bodyPr wrap="square" lIns="0" tIns="0" rIns="0" bIns="0" rtlCol="0" anchor="t"/>
          <a:lstStyle/>
          <a:p>
            <a:pPr marL="0" indent="0" algn="r">
              <a:buNone/>
            </a:pPr>
            <a:r>
              <a:rPr lang="en-US" sz="3200" b="1" dirty="0">
                <a:solidFill>
                  <a:srgbClr val="B9D9CF"/>
                </a:solidFill>
              </a:rPr>
              <a:t>3</a:t>
            </a:r>
            <a:endParaRPr lang="en-US" sz="3200" dirty="0"/>
          </a:p>
        </p:txBody>
      </p:sp>
      <p:sp>
        <p:nvSpPr>
          <p:cNvPr id="21" name="Text 16"/>
          <p:cNvSpPr txBox="1"/>
          <p:nvPr/>
        </p:nvSpPr>
        <p:spPr>
          <a:xfrm>
            <a:off x="6492240" y="2606040"/>
            <a:ext cx="2148840" cy="411480"/>
          </a:xfrm>
          <a:prstGeom prst="rect">
            <a:avLst/>
          </a:prstGeom>
          <a:noFill/>
          <a:ln/>
        </p:spPr>
        <p:txBody>
          <a:bodyPr wrap="square" lIns="0" tIns="0" rIns="0" bIns="0" rtlCol="0" anchor="t"/>
          <a:lstStyle/>
          <a:p>
            <a:pPr marL="0" indent="0">
              <a:buNone/>
            </a:pPr>
            <a:r>
              <a:rPr lang="en-US" sz="1800" b="1" dirty="0">
                <a:solidFill>
                  <a:schemeClr val="tx1"/>
                </a:solidFill>
              </a:rPr>
              <a:t>Money in the wallet</a:t>
            </a:r>
            <a:endParaRPr lang="en-US" sz="1800" dirty="0"/>
          </a:p>
        </p:txBody>
      </p:sp>
      <p:sp>
        <p:nvSpPr>
          <p:cNvPr id="22" name="Text 17"/>
          <p:cNvSpPr txBox="1"/>
          <p:nvPr/>
        </p:nvSpPr>
        <p:spPr>
          <a:xfrm>
            <a:off x="6492240" y="3063240"/>
            <a:ext cx="2148840" cy="1051560"/>
          </a:xfrm>
          <a:prstGeom prst="rect">
            <a:avLst/>
          </a:prstGeom>
          <a:noFill/>
          <a:ln/>
        </p:spPr>
        <p:txBody>
          <a:bodyPr wrap="square" lIns="0" tIns="0" rIns="0" bIns="0" rtlCol="0" anchor="t"/>
          <a:lstStyle/>
          <a:p>
            <a:pPr marL="0" indent="0">
              <a:buNone/>
            </a:pPr>
            <a:r>
              <a:rPr lang="en-US" sz="1400" dirty="0">
                <a:solidFill>
                  <a:schemeClr val="accent6"/>
                </a:solidFill>
              </a:rPr>
              <a:t>Flat ৳25 fee, no interest. The fee stays inside earned wages.</a:t>
            </a:r>
            <a:endParaRPr lang="en-US" sz="1400" dirty="0"/>
          </a:p>
        </p:txBody>
      </p:sp>
      <p:sp>
        <p:nvSpPr>
          <p:cNvPr id="23" name="Text 18"/>
          <p:cNvSpPr txBox="1"/>
          <p:nvPr/>
        </p:nvSpPr>
        <p:spPr>
          <a:xfrm>
            <a:off x="8823960" y="2514600"/>
            <a:ext cx="228600" cy="548640"/>
          </a:xfrm>
          <a:prstGeom prst="rect">
            <a:avLst/>
          </a:prstGeom>
          <a:noFill/>
          <a:ln/>
        </p:spPr>
        <p:txBody>
          <a:bodyPr wrap="square" lIns="0" tIns="0" rIns="0" bIns="0" rtlCol="0" anchor="t"/>
          <a:lstStyle/>
          <a:p>
            <a:pPr marL="0" indent="0" algn="ctr">
              <a:buNone/>
            </a:pPr>
            <a:r>
              <a:rPr lang="en-US" sz="3000" b="1" dirty="0">
                <a:solidFill>
                  <a:schemeClr val="accent1"/>
                </a:solidFill>
              </a:rPr>
              <a:t>›</a:t>
            </a:r>
            <a:endParaRPr lang="en-US" sz="3000" dirty="0"/>
          </a:p>
        </p:txBody>
      </p:sp>
      <p:sp>
        <p:nvSpPr>
          <p:cNvPr id="24" name="Step 4"/>
          <p:cNvSpPr/>
          <p:nvPr/>
        </p:nvSpPr>
        <p:spPr>
          <a:xfrm>
            <a:off x="9052560" y="1463040"/>
            <a:ext cx="2606040" cy="2743200"/>
          </a:xfrm>
          <a:prstGeom prst="roundRect">
            <a:avLst>
              <a:gd name="adj" fmla="val 4211"/>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25" name="Step 4 circle"/>
          <p:cNvSpPr/>
          <p:nvPr/>
        </p:nvSpPr>
        <p:spPr>
          <a:xfrm>
            <a:off x="9326880" y="1737360"/>
            <a:ext cx="685800" cy="685800"/>
          </a:xfrm>
          <a:prstGeom prst="ellipse">
            <a:avLst/>
          </a:prstGeom>
          <a:solidFill>
            <a:schemeClr val="accent1"/>
          </a:solidFill>
          <a:ln/>
        </p:spPr>
        <p:txBody>
          <a:bodyPr/>
          <a:lstStyle/>
          <a:p>
            <a:endParaRPr lang="en-US"/>
          </a:p>
        </p:txBody>
      </p:sp>
      <p:pic>
        <p:nvPicPr>
          <p:cNvPr id="26" name="Step 4 icon" descr="Step 4 icon"/>
          <p:cNvPicPr>
            <a:picLocks noChangeAspect="1"/>
          </p:cNvPicPr>
          <p:nvPr/>
        </p:nvPicPr>
        <p:blipFill>
          <a:blip r:embed="rId6"/>
          <a:stretch>
            <a:fillRect/>
          </a:stretch>
        </p:blipFill>
        <p:spPr>
          <a:xfrm>
            <a:off x="9498330" y="1908810"/>
            <a:ext cx="342900" cy="342900"/>
          </a:xfrm>
          <a:prstGeom prst="rect">
            <a:avLst/>
          </a:prstGeom>
        </p:spPr>
      </p:pic>
      <p:sp>
        <p:nvSpPr>
          <p:cNvPr id="27" name="Text 21"/>
          <p:cNvSpPr txBox="1"/>
          <p:nvPr/>
        </p:nvSpPr>
        <p:spPr>
          <a:xfrm>
            <a:off x="10972800" y="1691640"/>
            <a:ext cx="457200" cy="548640"/>
          </a:xfrm>
          <a:prstGeom prst="rect">
            <a:avLst/>
          </a:prstGeom>
          <a:noFill/>
          <a:ln/>
        </p:spPr>
        <p:txBody>
          <a:bodyPr wrap="square" lIns="0" tIns="0" rIns="0" bIns="0" rtlCol="0" anchor="t"/>
          <a:lstStyle/>
          <a:p>
            <a:pPr marL="0" indent="0" algn="r">
              <a:buNone/>
            </a:pPr>
            <a:r>
              <a:rPr lang="en-US" sz="3200" b="1" dirty="0">
                <a:solidFill>
                  <a:srgbClr val="B9D9CF"/>
                </a:solidFill>
              </a:rPr>
              <a:t>4</a:t>
            </a:r>
            <a:endParaRPr lang="en-US" sz="3200" dirty="0"/>
          </a:p>
        </p:txBody>
      </p:sp>
      <p:sp>
        <p:nvSpPr>
          <p:cNvPr id="28" name="Text 22"/>
          <p:cNvSpPr txBox="1"/>
          <p:nvPr/>
        </p:nvSpPr>
        <p:spPr>
          <a:xfrm>
            <a:off x="9326880" y="2606040"/>
            <a:ext cx="2148840" cy="411480"/>
          </a:xfrm>
          <a:prstGeom prst="rect">
            <a:avLst/>
          </a:prstGeom>
          <a:noFill/>
          <a:ln/>
        </p:spPr>
        <p:txBody>
          <a:bodyPr wrap="square" lIns="0" tIns="0" rIns="0" bIns="0" rtlCol="0" anchor="t"/>
          <a:lstStyle/>
          <a:p>
            <a:pPr marL="0" indent="0">
              <a:buNone/>
            </a:pPr>
            <a:r>
              <a:rPr lang="en-US" sz="1800" b="1" dirty="0">
                <a:solidFill>
                  <a:schemeClr val="tx1"/>
                </a:solidFill>
              </a:rPr>
              <a:t>Payday: one transfer</a:t>
            </a:r>
            <a:endParaRPr lang="en-US" sz="1800" dirty="0"/>
          </a:p>
        </p:txBody>
      </p:sp>
      <p:sp>
        <p:nvSpPr>
          <p:cNvPr id="29" name="Text 23"/>
          <p:cNvSpPr txBox="1"/>
          <p:nvPr/>
        </p:nvSpPr>
        <p:spPr>
          <a:xfrm>
            <a:off x="9326880" y="3063240"/>
            <a:ext cx="2148840" cy="1051560"/>
          </a:xfrm>
          <a:prstGeom prst="rect">
            <a:avLst/>
          </a:prstGeom>
          <a:noFill/>
          <a:ln/>
        </p:spPr>
        <p:txBody>
          <a:bodyPr wrap="square" lIns="0" tIns="0" rIns="0" bIns="0" rtlCol="0" anchor="t"/>
          <a:lstStyle/>
          <a:p>
            <a:pPr marL="0" indent="0">
              <a:buNone/>
            </a:pPr>
            <a:r>
              <a:rPr lang="en-US" sz="1400" dirty="0">
                <a:solidFill>
                  <a:schemeClr val="accent6"/>
                </a:solidFill>
              </a:rPr>
              <a:t>Employer remits one bulk total. Wallet auto-debit is the fallback.</a:t>
            </a:r>
            <a:endParaRPr lang="en-US" sz="1400" dirty="0"/>
          </a:p>
        </p:txBody>
      </p:sp>
      <p:sp>
        <p:nvSpPr>
          <p:cNvPr id="30" name="Stat 1"/>
          <p:cNvSpPr/>
          <p:nvPr/>
        </p:nvSpPr>
        <p:spPr>
          <a:xfrm>
            <a:off x="548640" y="4526280"/>
            <a:ext cx="3566160" cy="1554480"/>
          </a:xfrm>
          <a:prstGeom prst="roundRect">
            <a:avLst>
              <a:gd name="adj" fmla="val 7059"/>
            </a:avLst>
          </a:prstGeom>
          <a:solidFill>
            <a:schemeClr val="bg2"/>
          </a:solidFill>
          <a:ln/>
        </p:spPr>
        <p:txBody>
          <a:bodyPr/>
          <a:lstStyle/>
          <a:p>
            <a:endParaRPr lang="en-US"/>
          </a:p>
        </p:txBody>
      </p:sp>
      <p:sp>
        <p:nvSpPr>
          <p:cNvPr id="31" name="Text 25"/>
          <p:cNvSpPr txBox="1"/>
          <p:nvPr/>
        </p:nvSpPr>
        <p:spPr>
          <a:xfrm>
            <a:off x="822960" y="4663440"/>
            <a:ext cx="3017520" cy="685800"/>
          </a:xfrm>
          <a:prstGeom prst="rect">
            <a:avLst/>
          </a:prstGeom>
          <a:noFill/>
          <a:ln/>
        </p:spPr>
        <p:txBody>
          <a:bodyPr wrap="square" lIns="0" tIns="0" rIns="0" bIns="0" rtlCol="0" anchor="t"/>
          <a:lstStyle/>
          <a:p>
            <a:pPr marL="0" indent="0">
              <a:buNone/>
            </a:pPr>
            <a:r>
              <a:rPr lang="en-US" sz="4000" b="1" dirty="0">
                <a:solidFill>
                  <a:schemeClr val="accent1"/>
                </a:solidFill>
              </a:rPr>
              <a:t>≤ 20%</a:t>
            </a:r>
            <a:endParaRPr lang="en-US" sz="4000" dirty="0"/>
          </a:p>
        </p:txBody>
      </p:sp>
      <p:sp>
        <p:nvSpPr>
          <p:cNvPr id="32" name="Text 26"/>
          <p:cNvSpPr txBox="1"/>
          <p:nvPr/>
        </p:nvSpPr>
        <p:spPr>
          <a:xfrm>
            <a:off x="822960" y="5349240"/>
            <a:ext cx="3108960" cy="640080"/>
          </a:xfrm>
          <a:prstGeom prst="rect">
            <a:avLst/>
          </a:prstGeom>
          <a:noFill/>
          <a:ln/>
        </p:spPr>
        <p:txBody>
          <a:bodyPr wrap="square" lIns="0" tIns="0" rIns="0" bIns="0" rtlCol="0" anchor="t"/>
          <a:lstStyle/>
          <a:p>
            <a:pPr marL="0" indent="0">
              <a:buNone/>
            </a:pPr>
            <a:r>
              <a:rPr lang="en-US" sz="1400" dirty="0">
                <a:solidFill>
                  <a:schemeClr val="tx1"/>
                </a:solidFill>
              </a:rPr>
              <a:t>of monthly salary, and never more than earned minus owed</a:t>
            </a:r>
            <a:endParaRPr lang="en-US" sz="1400" dirty="0"/>
          </a:p>
        </p:txBody>
      </p:sp>
      <p:sp>
        <p:nvSpPr>
          <p:cNvPr id="33" name="Stat 2"/>
          <p:cNvSpPr/>
          <p:nvPr/>
        </p:nvSpPr>
        <p:spPr>
          <a:xfrm>
            <a:off x="4343400" y="4526280"/>
            <a:ext cx="3566160" cy="1554480"/>
          </a:xfrm>
          <a:prstGeom prst="roundRect">
            <a:avLst>
              <a:gd name="adj" fmla="val 7059"/>
            </a:avLst>
          </a:prstGeom>
          <a:solidFill>
            <a:schemeClr val="bg2"/>
          </a:solidFill>
          <a:ln/>
        </p:spPr>
        <p:txBody>
          <a:bodyPr/>
          <a:lstStyle/>
          <a:p>
            <a:endParaRPr lang="en-US"/>
          </a:p>
        </p:txBody>
      </p:sp>
      <p:sp>
        <p:nvSpPr>
          <p:cNvPr id="34" name="Text 28"/>
          <p:cNvSpPr txBox="1"/>
          <p:nvPr/>
        </p:nvSpPr>
        <p:spPr>
          <a:xfrm>
            <a:off x="4617720" y="4663440"/>
            <a:ext cx="3017520" cy="685800"/>
          </a:xfrm>
          <a:prstGeom prst="rect">
            <a:avLst/>
          </a:prstGeom>
          <a:noFill/>
          <a:ln/>
        </p:spPr>
        <p:txBody>
          <a:bodyPr wrap="square" lIns="0" tIns="0" rIns="0" bIns="0" rtlCol="0" anchor="t"/>
          <a:lstStyle/>
          <a:p>
            <a:pPr marL="0" indent="0">
              <a:buNone/>
            </a:pPr>
            <a:r>
              <a:rPr lang="en-US" sz="4000" b="1" dirty="0">
                <a:solidFill>
                  <a:schemeClr val="accent1"/>
                </a:solidFill>
              </a:rPr>
              <a:t>৳25</a:t>
            </a:r>
            <a:endParaRPr lang="en-US" sz="4000" dirty="0"/>
          </a:p>
        </p:txBody>
      </p:sp>
      <p:sp>
        <p:nvSpPr>
          <p:cNvPr id="35" name="Text 29"/>
          <p:cNvSpPr txBox="1"/>
          <p:nvPr/>
        </p:nvSpPr>
        <p:spPr>
          <a:xfrm>
            <a:off x="4617720" y="5349240"/>
            <a:ext cx="3108960" cy="640080"/>
          </a:xfrm>
          <a:prstGeom prst="rect">
            <a:avLst/>
          </a:prstGeom>
          <a:noFill/>
          <a:ln/>
        </p:spPr>
        <p:txBody>
          <a:bodyPr wrap="square" lIns="0" tIns="0" rIns="0" bIns="0" rtlCol="0" anchor="t"/>
          <a:lstStyle/>
          <a:p>
            <a:pPr marL="0" indent="0">
              <a:buNone/>
            </a:pPr>
            <a:r>
              <a:rPr lang="en-US" sz="1400" dirty="0">
                <a:solidFill>
                  <a:schemeClr val="tx1"/>
                </a:solidFill>
              </a:rPr>
              <a:t>flat fee per advance: no interest, no late penalty</a:t>
            </a:r>
            <a:endParaRPr lang="en-US" sz="1400" dirty="0"/>
          </a:p>
        </p:txBody>
      </p:sp>
      <p:sp>
        <p:nvSpPr>
          <p:cNvPr id="36" name="Stat 3"/>
          <p:cNvSpPr/>
          <p:nvPr/>
        </p:nvSpPr>
        <p:spPr>
          <a:xfrm>
            <a:off x="8138160" y="4526280"/>
            <a:ext cx="3566160" cy="1554480"/>
          </a:xfrm>
          <a:prstGeom prst="roundRect">
            <a:avLst>
              <a:gd name="adj" fmla="val 7059"/>
            </a:avLst>
          </a:prstGeom>
          <a:solidFill>
            <a:schemeClr val="bg2"/>
          </a:solidFill>
          <a:ln/>
        </p:spPr>
        <p:txBody>
          <a:bodyPr/>
          <a:lstStyle/>
          <a:p>
            <a:endParaRPr lang="en-US"/>
          </a:p>
        </p:txBody>
      </p:sp>
      <p:sp>
        <p:nvSpPr>
          <p:cNvPr id="37" name="Text 31"/>
          <p:cNvSpPr txBox="1"/>
          <p:nvPr/>
        </p:nvSpPr>
        <p:spPr>
          <a:xfrm>
            <a:off x="8412480" y="4663440"/>
            <a:ext cx="3017520" cy="685800"/>
          </a:xfrm>
          <a:prstGeom prst="rect">
            <a:avLst/>
          </a:prstGeom>
          <a:noFill/>
          <a:ln/>
        </p:spPr>
        <p:txBody>
          <a:bodyPr wrap="square" lIns="0" tIns="0" rIns="0" bIns="0" rtlCol="0" anchor="t"/>
          <a:lstStyle/>
          <a:p>
            <a:pPr marL="0" indent="0">
              <a:buNone/>
            </a:pPr>
            <a:r>
              <a:rPr lang="en-US" sz="4000" b="1" dirty="0">
                <a:solidFill>
                  <a:schemeClr val="accent1"/>
                </a:solidFill>
              </a:rPr>
              <a:t>1</a:t>
            </a:r>
            <a:endParaRPr lang="en-US" sz="4000" dirty="0"/>
          </a:p>
        </p:txBody>
      </p:sp>
      <p:sp>
        <p:nvSpPr>
          <p:cNvPr id="38" name="Text 32"/>
          <p:cNvSpPr txBox="1"/>
          <p:nvPr/>
        </p:nvSpPr>
        <p:spPr>
          <a:xfrm>
            <a:off x="8412480" y="5349240"/>
            <a:ext cx="3108960" cy="640080"/>
          </a:xfrm>
          <a:prstGeom prst="rect">
            <a:avLst/>
          </a:prstGeom>
          <a:noFill/>
          <a:ln/>
        </p:spPr>
        <p:txBody>
          <a:bodyPr wrap="square" lIns="0" tIns="0" rIns="0" bIns="0" rtlCol="0" anchor="t"/>
          <a:lstStyle/>
          <a:p>
            <a:pPr marL="0" indent="0">
              <a:buNone/>
            </a:pPr>
            <a:r>
              <a:rPr lang="en-US" sz="1400" dirty="0">
                <a:solidFill>
                  <a:schemeClr val="tx1"/>
                </a:solidFill>
              </a:rPr>
              <a:t>transfer per employer per payday, from a ready-made deduction list</a:t>
            </a:r>
            <a:endParaRPr lang="en-US" sz="14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The worker's view: one slider, one plain reason</a:t>
            </a:r>
            <a:endParaRPr lang="en-US" sz="3400" dirty="0"/>
          </a:p>
        </p:txBody>
      </p:sp>
      <p:sp>
        <p:nvSpPr>
          <p:cNvPr id="3" name="See what you have earned frame"/>
          <p:cNvSpPr/>
          <p:nvPr/>
        </p:nvSpPr>
        <p:spPr>
          <a:xfrm>
            <a:off x="1358463" y="1380744"/>
            <a:ext cx="1900795" cy="3593592"/>
          </a:xfrm>
          <a:prstGeom prst="roundRect">
            <a:avLst>
              <a:gd name="adj" fmla="val 10583"/>
            </a:avLst>
          </a:prstGeom>
          <a:solidFill>
            <a:srgbClr val="0F1C22"/>
          </a:solidFill>
          <a:ln/>
          <a:effectLst>
            <a:outerShdw blurRad="127000" dist="38100" dir="5400000" algn="bl" rotWithShape="0">
              <a:srgbClr val="000000">
                <a:alpha val="25000"/>
              </a:srgbClr>
            </a:outerShdw>
          </a:effectLst>
        </p:spPr>
        <p:txBody>
          <a:bodyPr/>
          <a:lstStyle/>
          <a:p>
            <a:endParaRPr lang="en-US"/>
          </a:p>
        </p:txBody>
      </p:sp>
      <p:pic>
        <p:nvPicPr>
          <p:cNvPr id="4" name="See what you have earned" descr="See what you have earned"/>
          <p:cNvPicPr>
            <a:picLocks noChangeAspect="1"/>
          </p:cNvPicPr>
          <p:nvPr/>
        </p:nvPicPr>
        <p:blipFill>
          <a:blip r:embed="rId3"/>
          <a:stretch>
            <a:fillRect/>
          </a:stretch>
        </p:blipFill>
        <p:spPr>
          <a:xfrm>
            <a:off x="1440759" y="1463040"/>
            <a:ext cx="1736203" cy="3429000"/>
          </a:xfrm>
          <a:prstGeom prst="rect">
            <a:avLst/>
          </a:prstGeom>
        </p:spPr>
      </p:pic>
      <p:sp>
        <p:nvSpPr>
          <p:cNvPr id="5" name="Text 2"/>
          <p:cNvSpPr txBox="1"/>
          <p:nvPr/>
        </p:nvSpPr>
        <p:spPr>
          <a:xfrm>
            <a:off x="548640" y="5120640"/>
            <a:ext cx="3520440" cy="365760"/>
          </a:xfrm>
          <a:prstGeom prst="rect">
            <a:avLst/>
          </a:prstGeom>
          <a:noFill/>
          <a:ln/>
        </p:spPr>
        <p:txBody>
          <a:bodyPr wrap="square" lIns="0" tIns="0" rIns="0" bIns="0" rtlCol="0" anchor="t"/>
          <a:lstStyle/>
          <a:p>
            <a:pPr marL="0" indent="0" algn="ctr">
              <a:buNone/>
            </a:pPr>
            <a:r>
              <a:rPr lang="en-US" sz="1700" b="1" dirty="0">
                <a:solidFill>
                  <a:schemeClr val="tx1"/>
                </a:solidFill>
              </a:rPr>
              <a:t>See what you have earned</a:t>
            </a:r>
            <a:endParaRPr lang="en-US" sz="1700" dirty="0"/>
          </a:p>
        </p:txBody>
      </p:sp>
      <p:sp>
        <p:nvSpPr>
          <p:cNvPr id="6" name="Text 3"/>
          <p:cNvSpPr txBox="1"/>
          <p:nvPr/>
        </p:nvSpPr>
        <p:spPr>
          <a:xfrm>
            <a:off x="548640" y="5486400"/>
            <a:ext cx="3520440" cy="548640"/>
          </a:xfrm>
          <a:prstGeom prst="rect">
            <a:avLst/>
          </a:prstGeom>
          <a:noFill/>
          <a:ln/>
        </p:spPr>
        <p:txBody>
          <a:bodyPr wrap="square" lIns="0" tIns="0" rIns="0" bIns="0" rtlCol="0" anchor="t"/>
          <a:lstStyle/>
          <a:p>
            <a:pPr marL="0" indent="0" algn="ctr">
              <a:buNone/>
            </a:pPr>
            <a:r>
              <a:rPr lang="en-US" sz="1300" dirty="0">
                <a:solidFill>
                  <a:schemeClr val="accent6"/>
                </a:solidFill>
              </a:rPr>
              <a:t>Earned to date and the safe limit, live from the simulated payroll.</a:t>
            </a:r>
            <a:endParaRPr lang="en-US" sz="1300" dirty="0"/>
          </a:p>
        </p:txBody>
      </p:sp>
      <p:sp>
        <p:nvSpPr>
          <p:cNvPr id="7" name="Offer with a reason frame"/>
          <p:cNvSpPr/>
          <p:nvPr/>
        </p:nvSpPr>
        <p:spPr>
          <a:xfrm>
            <a:off x="5107503" y="1380744"/>
            <a:ext cx="1900795" cy="3593592"/>
          </a:xfrm>
          <a:prstGeom prst="roundRect">
            <a:avLst>
              <a:gd name="adj" fmla="val 10583"/>
            </a:avLst>
          </a:prstGeom>
          <a:solidFill>
            <a:srgbClr val="0F1C22"/>
          </a:solidFill>
          <a:ln/>
          <a:effectLst>
            <a:outerShdw blurRad="127000" dist="38100" dir="5400000" algn="bl" rotWithShape="0">
              <a:srgbClr val="000000">
                <a:alpha val="25000"/>
              </a:srgbClr>
            </a:outerShdw>
          </a:effectLst>
        </p:spPr>
        <p:txBody>
          <a:bodyPr/>
          <a:lstStyle/>
          <a:p>
            <a:endParaRPr lang="en-US"/>
          </a:p>
        </p:txBody>
      </p:sp>
      <p:pic>
        <p:nvPicPr>
          <p:cNvPr id="8" name="Offer with a reason" descr="Offer with a reason"/>
          <p:cNvPicPr>
            <a:picLocks noChangeAspect="1"/>
          </p:cNvPicPr>
          <p:nvPr/>
        </p:nvPicPr>
        <p:blipFill>
          <a:blip r:embed="rId4"/>
          <a:stretch>
            <a:fillRect/>
          </a:stretch>
        </p:blipFill>
        <p:spPr>
          <a:xfrm>
            <a:off x="5189799" y="1463040"/>
            <a:ext cx="1736203" cy="3429000"/>
          </a:xfrm>
          <a:prstGeom prst="rect">
            <a:avLst/>
          </a:prstGeom>
        </p:spPr>
      </p:pic>
      <p:sp>
        <p:nvSpPr>
          <p:cNvPr id="9" name="Text 5"/>
          <p:cNvSpPr txBox="1"/>
          <p:nvPr/>
        </p:nvSpPr>
        <p:spPr>
          <a:xfrm>
            <a:off x="4297680" y="5120640"/>
            <a:ext cx="3520440" cy="365760"/>
          </a:xfrm>
          <a:prstGeom prst="rect">
            <a:avLst/>
          </a:prstGeom>
          <a:noFill/>
          <a:ln/>
        </p:spPr>
        <p:txBody>
          <a:bodyPr wrap="square" lIns="0" tIns="0" rIns="0" bIns="0" rtlCol="0" anchor="t"/>
          <a:lstStyle/>
          <a:p>
            <a:pPr marL="0" indent="0" algn="ctr">
              <a:buNone/>
            </a:pPr>
            <a:r>
              <a:rPr lang="en-US" sz="1700" b="1" dirty="0">
                <a:solidFill>
                  <a:schemeClr val="tx1"/>
                </a:solidFill>
              </a:rPr>
              <a:t>Offer with a reason</a:t>
            </a:r>
            <a:endParaRPr lang="en-US" sz="1700" dirty="0"/>
          </a:p>
        </p:txBody>
      </p:sp>
      <p:sp>
        <p:nvSpPr>
          <p:cNvPr id="10" name="Text 6"/>
          <p:cNvSpPr txBox="1"/>
          <p:nvPr/>
        </p:nvSpPr>
        <p:spPr>
          <a:xfrm>
            <a:off x="4297680" y="5486400"/>
            <a:ext cx="3520440" cy="548640"/>
          </a:xfrm>
          <a:prstGeom prst="rect">
            <a:avLst/>
          </a:prstGeom>
          <a:noFill/>
          <a:ln/>
        </p:spPr>
        <p:txBody>
          <a:bodyPr wrap="square" lIns="0" tIns="0" rIns="0" bIns="0" rtlCol="0" anchor="t"/>
          <a:lstStyle/>
          <a:p>
            <a:pPr marL="0" indent="0" algn="ctr">
              <a:buNone/>
            </a:pPr>
            <a:r>
              <a:rPr lang="en-US" sz="1300" dirty="0">
                <a:solidFill>
                  <a:schemeClr val="accent6"/>
                </a:solidFill>
              </a:rPr>
              <a:t>Fee, total deduction and date, with why this amount, in plain words.</a:t>
            </a:r>
            <a:endParaRPr lang="en-US" sz="1300" dirty="0"/>
          </a:p>
        </p:txBody>
      </p:sp>
      <p:sp>
        <p:nvSpPr>
          <p:cNvPr id="11" name="Fully in Bangla frame"/>
          <p:cNvSpPr/>
          <p:nvPr/>
        </p:nvSpPr>
        <p:spPr>
          <a:xfrm>
            <a:off x="8856543" y="1380744"/>
            <a:ext cx="1900795" cy="3593592"/>
          </a:xfrm>
          <a:prstGeom prst="roundRect">
            <a:avLst>
              <a:gd name="adj" fmla="val 10583"/>
            </a:avLst>
          </a:prstGeom>
          <a:solidFill>
            <a:srgbClr val="0F1C22"/>
          </a:solidFill>
          <a:ln/>
          <a:effectLst>
            <a:outerShdw blurRad="127000" dist="38100" dir="5400000" algn="bl" rotWithShape="0">
              <a:srgbClr val="000000">
                <a:alpha val="25000"/>
              </a:srgbClr>
            </a:outerShdw>
          </a:effectLst>
        </p:spPr>
        <p:txBody>
          <a:bodyPr/>
          <a:lstStyle/>
          <a:p>
            <a:endParaRPr lang="en-US"/>
          </a:p>
        </p:txBody>
      </p:sp>
      <p:pic>
        <p:nvPicPr>
          <p:cNvPr id="12" name="Fully in Bangla" descr="Fully in Bangla"/>
          <p:cNvPicPr>
            <a:picLocks noChangeAspect="1"/>
          </p:cNvPicPr>
          <p:nvPr/>
        </p:nvPicPr>
        <p:blipFill>
          <a:blip r:embed="rId5"/>
          <a:stretch>
            <a:fillRect/>
          </a:stretch>
        </p:blipFill>
        <p:spPr>
          <a:xfrm>
            <a:off x="8938839" y="1463040"/>
            <a:ext cx="1736203" cy="3429000"/>
          </a:xfrm>
          <a:prstGeom prst="rect">
            <a:avLst/>
          </a:prstGeom>
        </p:spPr>
      </p:pic>
      <p:sp>
        <p:nvSpPr>
          <p:cNvPr id="13" name="Text 8"/>
          <p:cNvSpPr txBox="1"/>
          <p:nvPr/>
        </p:nvSpPr>
        <p:spPr>
          <a:xfrm>
            <a:off x="8046720" y="5120640"/>
            <a:ext cx="3520440" cy="365760"/>
          </a:xfrm>
          <a:prstGeom prst="rect">
            <a:avLst/>
          </a:prstGeom>
          <a:noFill/>
          <a:ln/>
        </p:spPr>
        <p:txBody>
          <a:bodyPr wrap="square" lIns="0" tIns="0" rIns="0" bIns="0" rtlCol="0" anchor="t"/>
          <a:lstStyle/>
          <a:p>
            <a:pPr marL="0" indent="0" algn="ctr">
              <a:buNone/>
            </a:pPr>
            <a:r>
              <a:rPr lang="en-US" sz="1700" b="1" dirty="0">
                <a:solidFill>
                  <a:schemeClr val="tx1"/>
                </a:solidFill>
              </a:rPr>
              <a:t>Fully in Bangla</a:t>
            </a:r>
            <a:endParaRPr lang="en-US" sz="1700" dirty="0"/>
          </a:p>
        </p:txBody>
      </p:sp>
      <p:sp>
        <p:nvSpPr>
          <p:cNvPr id="14" name="Text 9"/>
          <p:cNvSpPr txBox="1"/>
          <p:nvPr/>
        </p:nvSpPr>
        <p:spPr>
          <a:xfrm>
            <a:off x="8046720" y="5486400"/>
            <a:ext cx="3520440" cy="548640"/>
          </a:xfrm>
          <a:prstGeom prst="rect">
            <a:avLst/>
          </a:prstGeom>
          <a:noFill/>
          <a:ln/>
        </p:spPr>
        <p:txBody>
          <a:bodyPr wrap="square" lIns="0" tIns="0" rIns="0" bIns="0" rtlCol="0" anchor="t"/>
          <a:lstStyle/>
          <a:p>
            <a:pPr marL="0" indent="0" algn="ctr">
              <a:buNone/>
            </a:pPr>
            <a:r>
              <a:rPr lang="en-US" sz="1300" dirty="0">
                <a:solidFill>
                  <a:schemeClr val="accent6"/>
                </a:solidFill>
              </a:rPr>
              <a:t>Every screen, number and explanation switches to Bangla.</a:t>
            </a:r>
            <a:endParaRPr lang="en-US" sz="1300" dirty="0"/>
          </a:p>
        </p:txBody>
      </p:sp>
      <p:sp>
        <p:nvSpPr>
          <p:cNvPr id="15" name="Text 10"/>
          <p:cNvSpPr txBox="1"/>
          <p:nvPr/>
        </p:nvSpPr>
        <p:spPr>
          <a:xfrm>
            <a:off x="548640" y="6108192"/>
            <a:ext cx="11064240" cy="228600"/>
          </a:xfrm>
          <a:prstGeom prst="rect">
            <a:avLst/>
          </a:prstGeom>
          <a:noFill/>
          <a:ln/>
        </p:spPr>
        <p:txBody>
          <a:bodyPr wrap="square" lIns="0" tIns="0" rIns="0" bIns="0" rtlCol="0" anchor="t"/>
          <a:lstStyle/>
          <a:p>
            <a:pPr marL="0" indent="0">
              <a:buNone/>
            </a:pPr>
            <a:r>
              <a:rPr lang="en-US" sz="1100" i="1" dirty="0">
                <a:solidFill>
                  <a:schemeClr val="accent6"/>
                </a:solidFill>
              </a:rPr>
              <a:t>Real screens from the running prototype (Rahim, synthetic data).</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Employers get one list; upay ops sees the risk</a:t>
            </a:r>
            <a:endParaRPr lang="en-US" sz="3400" dirty="0"/>
          </a:p>
        </p:txBody>
      </p:sp>
      <p:sp>
        <p:nvSpPr>
          <p:cNvPr id="3" name="Employer HR dashboard frame"/>
          <p:cNvSpPr/>
          <p:nvPr/>
        </p:nvSpPr>
        <p:spPr>
          <a:xfrm>
            <a:off x="548640" y="1362456"/>
            <a:ext cx="5458968" cy="3453003"/>
          </a:xfrm>
          <a:prstGeom prst="roundRect">
            <a:avLst>
              <a:gd name="adj" fmla="val 3178"/>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pic>
        <p:nvPicPr>
          <p:cNvPr id="4" name="Employer HR dashboard" descr="Employer HR dashboard"/>
          <p:cNvPicPr>
            <a:picLocks noChangeAspect="1"/>
          </p:cNvPicPr>
          <p:nvPr/>
        </p:nvPicPr>
        <p:blipFill>
          <a:blip r:embed="rId3"/>
          <a:stretch>
            <a:fillRect/>
          </a:stretch>
        </p:blipFill>
        <p:spPr>
          <a:xfrm>
            <a:off x="603504" y="1417320"/>
            <a:ext cx="5349240" cy="3343275"/>
          </a:xfrm>
          <a:prstGeom prst="rect">
            <a:avLst/>
          </a:prstGeom>
        </p:spPr>
      </p:pic>
      <p:sp>
        <p:nvSpPr>
          <p:cNvPr id="5" name="upay ops dashboard, Eid surge frame"/>
          <p:cNvSpPr/>
          <p:nvPr/>
        </p:nvSpPr>
        <p:spPr>
          <a:xfrm>
            <a:off x="6181344" y="1362456"/>
            <a:ext cx="5458968" cy="3453003"/>
          </a:xfrm>
          <a:prstGeom prst="roundRect">
            <a:avLst>
              <a:gd name="adj" fmla="val 3178"/>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pic>
        <p:nvPicPr>
          <p:cNvPr id="6" name="upay ops dashboard, Eid surge" descr="upay ops dashboard, Eid surge"/>
          <p:cNvPicPr>
            <a:picLocks noChangeAspect="1"/>
          </p:cNvPicPr>
          <p:nvPr/>
        </p:nvPicPr>
        <p:blipFill>
          <a:blip r:embed="rId4"/>
          <a:stretch>
            <a:fillRect/>
          </a:stretch>
        </p:blipFill>
        <p:spPr>
          <a:xfrm>
            <a:off x="6236208" y="1417320"/>
            <a:ext cx="5349240" cy="3343275"/>
          </a:xfrm>
          <a:prstGeom prst="rect">
            <a:avLst/>
          </a:prstGeom>
        </p:spPr>
      </p:pic>
      <p:sp>
        <p:nvSpPr>
          <p:cNvPr id="7" name="Text 3"/>
          <p:cNvSpPr txBox="1"/>
          <p:nvPr/>
        </p:nvSpPr>
        <p:spPr>
          <a:xfrm>
            <a:off x="603504" y="5034915"/>
            <a:ext cx="5349240" cy="365760"/>
          </a:xfrm>
          <a:prstGeom prst="rect">
            <a:avLst/>
          </a:prstGeom>
          <a:noFill/>
          <a:ln/>
        </p:spPr>
        <p:txBody>
          <a:bodyPr wrap="square" lIns="0" tIns="0" rIns="0" bIns="0" rtlCol="0" anchor="t"/>
          <a:lstStyle/>
          <a:p>
            <a:pPr marL="0" indent="0">
              <a:buNone/>
            </a:pPr>
            <a:r>
              <a:rPr lang="en-US" sz="1800" b="1" dirty="0">
                <a:solidFill>
                  <a:schemeClr val="tx1"/>
                </a:solidFill>
              </a:rPr>
              <a:t>Employer HR</a:t>
            </a:r>
            <a:endParaRPr lang="en-US" sz="1800" dirty="0"/>
          </a:p>
        </p:txBody>
      </p:sp>
      <p:sp>
        <p:nvSpPr>
          <p:cNvPr id="8" name="Text 4"/>
          <p:cNvSpPr txBox="1"/>
          <p:nvPr/>
        </p:nvSpPr>
        <p:spPr>
          <a:xfrm>
            <a:off x="603504" y="5418963"/>
            <a:ext cx="5349240" cy="777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6"/>
                </a:solidFill>
              </a:rPr>
              <a:t>Deduction notice and CSV: who, how much, which payday</a:t>
            </a:r>
            <a:endParaRPr lang="en-US" sz="1400" dirty="0"/>
          </a:p>
          <a:p>
            <a:pPr marL="342900" indent="-342900">
              <a:spcAft>
                <a:spcPts val="400"/>
              </a:spcAft>
              <a:buSzPct val="100000"/>
              <a:buChar char="•"/>
            </a:pPr>
            <a:r>
              <a:rPr lang="en-US" sz="1400" dirty="0">
                <a:solidFill>
                  <a:schemeClr val="accent6"/>
                </a:solidFill>
              </a:rPr>
              <a:t>Confirm one remittance; HR can lower the limit or switch off</a:t>
            </a:r>
            <a:endParaRPr lang="en-US" sz="1400" dirty="0"/>
          </a:p>
        </p:txBody>
      </p:sp>
      <p:sp>
        <p:nvSpPr>
          <p:cNvPr id="9" name="Text 5"/>
          <p:cNvSpPr txBox="1"/>
          <p:nvPr/>
        </p:nvSpPr>
        <p:spPr>
          <a:xfrm>
            <a:off x="6236208" y="5034915"/>
            <a:ext cx="5349240" cy="365760"/>
          </a:xfrm>
          <a:prstGeom prst="rect">
            <a:avLst/>
          </a:prstGeom>
          <a:noFill/>
          <a:ln/>
        </p:spPr>
        <p:txBody>
          <a:bodyPr wrap="square" lIns="0" tIns="0" rIns="0" bIns="0" rtlCol="0" anchor="t"/>
          <a:lstStyle/>
          <a:p>
            <a:pPr marL="0" indent="0">
              <a:buNone/>
            </a:pPr>
            <a:r>
              <a:rPr lang="en-US" sz="1800" b="1" dirty="0">
                <a:solidFill>
                  <a:schemeClr val="tx1"/>
                </a:solidFill>
              </a:rPr>
              <a:t>upay operations</a:t>
            </a:r>
            <a:endParaRPr lang="en-US" sz="1800" dirty="0"/>
          </a:p>
        </p:txBody>
      </p:sp>
      <p:sp>
        <p:nvSpPr>
          <p:cNvPr id="10" name="Text 6"/>
          <p:cNvSpPr txBox="1"/>
          <p:nvPr/>
        </p:nvSpPr>
        <p:spPr>
          <a:xfrm>
            <a:off x="6236208" y="5418963"/>
            <a:ext cx="5349240" cy="777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6"/>
                </a:solidFill>
              </a:rPr>
              <a:t>Capital forecast (P10–P90): an Eid surge pushes need above the pool</a:t>
            </a:r>
            <a:endParaRPr lang="en-US" sz="1400" dirty="0"/>
          </a:p>
          <a:p>
            <a:pPr marL="342900" indent="-342900">
              <a:spcAft>
                <a:spcPts val="400"/>
              </a:spcAft>
              <a:buSzPct val="100000"/>
              <a:buChar char="•"/>
            </a:pPr>
            <a:r>
              <a:rPr lang="en-US" sz="1400" dirty="0">
                <a:solidFill>
                  <a:schemeClr val="accent6"/>
                </a:solidFill>
              </a:rPr>
              <a:t>New requests queue for a person; kill switch pauses everything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Five models; AI can shrink an offer, never decline one</a:t>
            </a:r>
            <a:endParaRPr lang="en-US" sz="3400" dirty="0"/>
          </a:p>
        </p:txBody>
      </p:sp>
      <p:sp>
        <p:nvSpPr>
          <p:cNvPr id="3" name="M1 · Employer payroll risk"/>
          <p:cNvSpPr/>
          <p:nvPr/>
        </p:nvSpPr>
        <p:spPr>
          <a:xfrm>
            <a:off x="548640" y="1417320"/>
            <a:ext cx="3520440" cy="2148840"/>
          </a:xfrm>
          <a:prstGeom prst="roundRect">
            <a:avLst>
              <a:gd name="adj" fmla="val 510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4" name="M1 · Employer payroll risk circle"/>
          <p:cNvSpPr/>
          <p:nvPr/>
        </p:nvSpPr>
        <p:spPr>
          <a:xfrm>
            <a:off x="777240" y="1645920"/>
            <a:ext cx="548640" cy="548640"/>
          </a:xfrm>
          <a:prstGeom prst="ellipse">
            <a:avLst/>
          </a:prstGeom>
          <a:solidFill>
            <a:schemeClr val="accent1"/>
          </a:solidFill>
          <a:ln/>
        </p:spPr>
        <p:txBody>
          <a:bodyPr/>
          <a:lstStyle/>
          <a:p>
            <a:endParaRPr lang="en-US"/>
          </a:p>
        </p:txBody>
      </p:sp>
      <p:pic>
        <p:nvPicPr>
          <p:cNvPr id="5" name="M1 · Employer payroll risk icon" descr="M1 · Employer payroll risk icon"/>
          <p:cNvPicPr>
            <a:picLocks noChangeAspect="1"/>
          </p:cNvPicPr>
          <p:nvPr/>
        </p:nvPicPr>
        <p:blipFill>
          <a:blip r:embed="rId3"/>
          <a:stretch>
            <a:fillRect/>
          </a:stretch>
        </p:blipFill>
        <p:spPr>
          <a:xfrm>
            <a:off x="914400" y="1783080"/>
            <a:ext cx="274320" cy="274320"/>
          </a:xfrm>
          <a:prstGeom prst="rect">
            <a:avLst/>
          </a:prstGeom>
        </p:spPr>
      </p:pic>
      <p:sp>
        <p:nvSpPr>
          <p:cNvPr id="6" name="Text 3"/>
          <p:cNvSpPr txBox="1"/>
          <p:nvPr/>
        </p:nvSpPr>
        <p:spPr>
          <a:xfrm>
            <a:off x="1463040" y="1664208"/>
            <a:ext cx="2468880" cy="548640"/>
          </a:xfrm>
          <a:prstGeom prst="rect">
            <a:avLst/>
          </a:prstGeom>
          <a:noFill/>
          <a:ln/>
        </p:spPr>
        <p:txBody>
          <a:bodyPr wrap="square" lIns="0" tIns="0" rIns="0" bIns="0" rtlCol="0" anchor="ctr"/>
          <a:lstStyle/>
          <a:p>
            <a:pPr marL="0" indent="0">
              <a:buNone/>
            </a:pPr>
            <a:r>
              <a:rPr lang="en-US" sz="1600" b="1" dirty="0">
                <a:solidFill>
                  <a:schemeClr val="tx1"/>
                </a:solidFill>
              </a:rPr>
              <a:t>M1 · Employer payroll risk</a:t>
            </a:r>
            <a:endParaRPr lang="en-US" sz="1600" dirty="0"/>
          </a:p>
        </p:txBody>
      </p:sp>
      <p:sp>
        <p:nvSpPr>
          <p:cNvPr id="7" name="Text 4"/>
          <p:cNvSpPr txBox="1"/>
          <p:nvPr/>
        </p:nvSpPr>
        <p:spPr>
          <a:xfrm>
            <a:off x="777240" y="2331720"/>
            <a:ext cx="3108960" cy="685800"/>
          </a:xfrm>
          <a:prstGeom prst="rect">
            <a:avLst/>
          </a:prstGeom>
          <a:noFill/>
          <a:ln/>
        </p:spPr>
        <p:txBody>
          <a:bodyPr wrap="square" lIns="0" tIns="0" rIns="0" bIns="0" rtlCol="0" anchor="t"/>
          <a:lstStyle/>
          <a:p>
            <a:pPr marL="0" indent="0">
              <a:buNone/>
            </a:pPr>
            <a:r>
              <a:rPr lang="en-US" sz="1300" dirty="0">
                <a:solidFill>
                  <a:schemeClr val="accent6"/>
                </a:solidFill>
              </a:rPr>
              <a:t>Will this employer pay late? LightGBM, calibrated, SHAP reasons.</a:t>
            </a:r>
            <a:endParaRPr lang="en-US" sz="1300" dirty="0"/>
          </a:p>
        </p:txBody>
      </p:sp>
      <p:sp>
        <p:nvSpPr>
          <p:cNvPr id="8" name="Text 5"/>
          <p:cNvSpPr txBox="1"/>
          <p:nvPr/>
        </p:nvSpPr>
        <p:spPr>
          <a:xfrm>
            <a:off x="777240" y="3063240"/>
            <a:ext cx="3108960" cy="320040"/>
          </a:xfrm>
          <a:prstGeom prst="rect">
            <a:avLst/>
          </a:prstGeom>
          <a:noFill/>
          <a:ln/>
        </p:spPr>
        <p:txBody>
          <a:bodyPr wrap="square" lIns="0" tIns="0" rIns="0" bIns="0" rtlCol="0" anchor="t"/>
          <a:lstStyle/>
          <a:p>
            <a:pPr marL="0" indent="0">
              <a:buNone/>
            </a:pPr>
            <a:r>
              <a:rPr lang="en-US" sz="1300" b="1" dirty="0">
                <a:solidFill>
                  <a:schemeClr val="accent1"/>
                </a:solidFill>
              </a:rPr>
              <a:t>ROC-AUC 0.91 vs 0.68 rule</a:t>
            </a:r>
            <a:endParaRPr lang="en-US" sz="1300" dirty="0"/>
          </a:p>
        </p:txBody>
      </p:sp>
      <p:sp>
        <p:nvSpPr>
          <p:cNvPr id="9" name="M2 · Repayment risk → tier"/>
          <p:cNvSpPr/>
          <p:nvPr/>
        </p:nvSpPr>
        <p:spPr>
          <a:xfrm>
            <a:off x="4297680" y="1417320"/>
            <a:ext cx="3520440" cy="2148840"/>
          </a:xfrm>
          <a:prstGeom prst="roundRect">
            <a:avLst>
              <a:gd name="adj" fmla="val 510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10" name="M2 · Repayment risk → tier circle"/>
          <p:cNvSpPr/>
          <p:nvPr/>
        </p:nvSpPr>
        <p:spPr>
          <a:xfrm>
            <a:off x="4526280" y="1645920"/>
            <a:ext cx="548640" cy="548640"/>
          </a:xfrm>
          <a:prstGeom prst="ellipse">
            <a:avLst/>
          </a:prstGeom>
          <a:solidFill>
            <a:schemeClr val="accent1"/>
          </a:solidFill>
          <a:ln/>
        </p:spPr>
        <p:txBody>
          <a:bodyPr/>
          <a:lstStyle/>
          <a:p>
            <a:endParaRPr lang="en-US"/>
          </a:p>
        </p:txBody>
      </p:sp>
      <p:pic>
        <p:nvPicPr>
          <p:cNvPr id="11" name="M2 · Repayment risk → tier icon" descr="M2 · Repayment risk → tier icon"/>
          <p:cNvPicPr>
            <a:picLocks noChangeAspect="1"/>
          </p:cNvPicPr>
          <p:nvPr/>
        </p:nvPicPr>
        <p:blipFill>
          <a:blip r:embed="rId4"/>
          <a:stretch>
            <a:fillRect/>
          </a:stretch>
        </p:blipFill>
        <p:spPr>
          <a:xfrm>
            <a:off x="4663440" y="1783080"/>
            <a:ext cx="274320" cy="274320"/>
          </a:xfrm>
          <a:prstGeom prst="rect">
            <a:avLst/>
          </a:prstGeom>
        </p:spPr>
      </p:pic>
      <p:sp>
        <p:nvSpPr>
          <p:cNvPr id="12" name="Text 8"/>
          <p:cNvSpPr txBox="1"/>
          <p:nvPr/>
        </p:nvSpPr>
        <p:spPr>
          <a:xfrm>
            <a:off x="5212080" y="1664208"/>
            <a:ext cx="2468880" cy="548640"/>
          </a:xfrm>
          <a:prstGeom prst="rect">
            <a:avLst/>
          </a:prstGeom>
          <a:noFill/>
          <a:ln/>
        </p:spPr>
        <p:txBody>
          <a:bodyPr wrap="square" lIns="0" tIns="0" rIns="0" bIns="0" rtlCol="0" anchor="ctr"/>
          <a:lstStyle/>
          <a:p>
            <a:pPr marL="0" indent="0">
              <a:buNone/>
            </a:pPr>
            <a:r>
              <a:rPr lang="en-US" sz="1600" b="1" dirty="0">
                <a:solidFill>
                  <a:schemeClr val="tx1"/>
                </a:solidFill>
              </a:rPr>
              <a:t>M2 · Repayment risk → tier</a:t>
            </a:r>
            <a:endParaRPr lang="en-US" sz="1600" dirty="0"/>
          </a:p>
        </p:txBody>
      </p:sp>
      <p:sp>
        <p:nvSpPr>
          <p:cNvPr id="13" name="Text 9"/>
          <p:cNvSpPr txBox="1"/>
          <p:nvPr/>
        </p:nvSpPr>
        <p:spPr>
          <a:xfrm>
            <a:off x="4526280" y="2331720"/>
            <a:ext cx="3108960" cy="685800"/>
          </a:xfrm>
          <a:prstGeom prst="rect">
            <a:avLst/>
          </a:prstGeom>
          <a:noFill/>
          <a:ln/>
        </p:spPr>
        <p:txBody>
          <a:bodyPr wrap="square" lIns="0" tIns="0" rIns="0" bIns="0" rtlCol="0" anchor="t"/>
          <a:lstStyle/>
          <a:p>
            <a:pPr marL="0" indent="0">
              <a:buNone/>
            </a:pPr>
            <a:r>
              <a:rPr lang="en-US" sz="1300" dirty="0">
                <a:solidFill>
                  <a:schemeClr val="accent6"/>
                </a:solidFill>
              </a:rPr>
              <a:t>Tier A/B/C/D sets 100% / 70% / 40% of the cap, or a person.</a:t>
            </a:r>
            <a:endParaRPr lang="en-US" sz="1300" dirty="0"/>
          </a:p>
        </p:txBody>
      </p:sp>
      <p:sp>
        <p:nvSpPr>
          <p:cNvPr id="14" name="Text 10"/>
          <p:cNvSpPr txBox="1"/>
          <p:nvPr/>
        </p:nvSpPr>
        <p:spPr>
          <a:xfrm>
            <a:off x="4526280" y="3063240"/>
            <a:ext cx="3108960" cy="320040"/>
          </a:xfrm>
          <a:prstGeom prst="rect">
            <a:avLst/>
          </a:prstGeom>
          <a:noFill/>
          <a:ln/>
        </p:spPr>
        <p:txBody>
          <a:bodyPr wrap="square" lIns="0" tIns="0" rIns="0" bIns="0" rtlCol="0" anchor="t"/>
          <a:lstStyle/>
          <a:p>
            <a:pPr marL="0" indent="0">
              <a:buNone/>
            </a:pPr>
            <a:r>
              <a:rPr lang="en-US" sz="1300" b="1" dirty="0">
                <a:solidFill>
                  <a:schemeClr val="accent1"/>
                </a:solidFill>
              </a:rPr>
              <a:t>ROC-AUC 0.88 vs 0.50 rule</a:t>
            </a:r>
            <a:endParaRPr lang="en-US" sz="1300" dirty="0"/>
          </a:p>
        </p:txBody>
      </p:sp>
      <p:sp>
        <p:nvSpPr>
          <p:cNvPr id="15" name="M3 · Leaving before payday"/>
          <p:cNvSpPr/>
          <p:nvPr/>
        </p:nvSpPr>
        <p:spPr>
          <a:xfrm>
            <a:off x="8046720" y="1417320"/>
            <a:ext cx="3520440" cy="2148840"/>
          </a:xfrm>
          <a:prstGeom prst="roundRect">
            <a:avLst>
              <a:gd name="adj" fmla="val 510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16" name="M3 · Leaving before payday circle"/>
          <p:cNvSpPr/>
          <p:nvPr/>
        </p:nvSpPr>
        <p:spPr>
          <a:xfrm>
            <a:off x="8275320" y="1645920"/>
            <a:ext cx="548640" cy="548640"/>
          </a:xfrm>
          <a:prstGeom prst="ellipse">
            <a:avLst/>
          </a:prstGeom>
          <a:solidFill>
            <a:schemeClr val="accent1"/>
          </a:solidFill>
          <a:ln/>
        </p:spPr>
        <p:txBody>
          <a:bodyPr/>
          <a:lstStyle/>
          <a:p>
            <a:endParaRPr lang="en-US"/>
          </a:p>
        </p:txBody>
      </p:sp>
      <p:pic>
        <p:nvPicPr>
          <p:cNvPr id="17" name="M3 · Leaving before payday icon" descr="M3 · Leaving before payday icon"/>
          <p:cNvPicPr>
            <a:picLocks noChangeAspect="1"/>
          </p:cNvPicPr>
          <p:nvPr/>
        </p:nvPicPr>
        <p:blipFill>
          <a:blip r:embed="rId5"/>
          <a:stretch>
            <a:fillRect/>
          </a:stretch>
        </p:blipFill>
        <p:spPr>
          <a:xfrm>
            <a:off x="8412480" y="1783080"/>
            <a:ext cx="274320" cy="274320"/>
          </a:xfrm>
          <a:prstGeom prst="rect">
            <a:avLst/>
          </a:prstGeom>
        </p:spPr>
      </p:pic>
      <p:sp>
        <p:nvSpPr>
          <p:cNvPr id="18" name="Text 13"/>
          <p:cNvSpPr txBox="1"/>
          <p:nvPr/>
        </p:nvSpPr>
        <p:spPr>
          <a:xfrm>
            <a:off x="8961120" y="1664208"/>
            <a:ext cx="2468880" cy="548640"/>
          </a:xfrm>
          <a:prstGeom prst="rect">
            <a:avLst/>
          </a:prstGeom>
          <a:noFill/>
          <a:ln/>
        </p:spPr>
        <p:txBody>
          <a:bodyPr wrap="square" lIns="0" tIns="0" rIns="0" bIns="0" rtlCol="0" anchor="ctr"/>
          <a:lstStyle/>
          <a:p>
            <a:pPr marL="0" indent="0">
              <a:buNone/>
            </a:pPr>
            <a:r>
              <a:rPr lang="en-US" sz="1600" b="1" dirty="0">
                <a:solidFill>
                  <a:schemeClr val="tx1"/>
                </a:solidFill>
              </a:rPr>
              <a:t>M3 · Leaving before payday</a:t>
            </a:r>
            <a:endParaRPr lang="en-US" sz="1600" dirty="0"/>
          </a:p>
        </p:txBody>
      </p:sp>
      <p:sp>
        <p:nvSpPr>
          <p:cNvPr id="19" name="Text 14"/>
          <p:cNvSpPr txBox="1"/>
          <p:nvPr/>
        </p:nvSpPr>
        <p:spPr>
          <a:xfrm>
            <a:off x="8275320" y="2331720"/>
            <a:ext cx="3108960" cy="685800"/>
          </a:xfrm>
          <a:prstGeom prst="rect">
            <a:avLst/>
          </a:prstGeom>
          <a:noFill/>
          <a:ln/>
        </p:spPr>
        <p:txBody>
          <a:bodyPr wrap="square" lIns="0" tIns="0" rIns="0" bIns="0" rtlCol="0" anchor="t"/>
          <a:lstStyle/>
          <a:p>
            <a:pPr marL="0" indent="0">
              <a:buNone/>
            </a:pPr>
            <a:r>
              <a:rPr lang="en-US" sz="1300" dirty="0">
                <a:solidFill>
                  <a:schemeClr val="accent6"/>
                </a:solidFill>
              </a:rPr>
              <a:t>If ≥ 30%, the tier steps down one level.</a:t>
            </a:r>
            <a:endParaRPr lang="en-US" sz="1300" dirty="0"/>
          </a:p>
        </p:txBody>
      </p:sp>
      <p:sp>
        <p:nvSpPr>
          <p:cNvPr id="20" name="Text 15"/>
          <p:cNvSpPr txBox="1"/>
          <p:nvPr/>
        </p:nvSpPr>
        <p:spPr>
          <a:xfrm>
            <a:off x="8275320" y="3063240"/>
            <a:ext cx="3108960" cy="320040"/>
          </a:xfrm>
          <a:prstGeom prst="rect">
            <a:avLst/>
          </a:prstGeom>
          <a:noFill/>
          <a:ln/>
        </p:spPr>
        <p:txBody>
          <a:bodyPr wrap="square" lIns="0" tIns="0" rIns="0" bIns="0" rtlCol="0" anchor="t"/>
          <a:lstStyle/>
          <a:p>
            <a:pPr marL="0" indent="0">
              <a:buNone/>
            </a:pPr>
            <a:r>
              <a:rPr lang="en-US" sz="1300" b="1" dirty="0">
                <a:solidFill>
                  <a:schemeClr val="accent1"/>
                </a:solidFill>
              </a:rPr>
              <a:t>ROC-AUC 0.82 vs 0.65 rule</a:t>
            </a:r>
            <a:endParaRPr lang="en-US" sz="1300" dirty="0"/>
          </a:p>
        </p:txBody>
      </p:sp>
      <p:sp>
        <p:nvSpPr>
          <p:cNvPr id="21" name="M4 · Capital forecast"/>
          <p:cNvSpPr/>
          <p:nvPr/>
        </p:nvSpPr>
        <p:spPr>
          <a:xfrm>
            <a:off x="548640" y="3794760"/>
            <a:ext cx="3520440" cy="2148840"/>
          </a:xfrm>
          <a:prstGeom prst="roundRect">
            <a:avLst>
              <a:gd name="adj" fmla="val 510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22" name="M4 · Capital forecast circle"/>
          <p:cNvSpPr/>
          <p:nvPr/>
        </p:nvSpPr>
        <p:spPr>
          <a:xfrm>
            <a:off x="777240" y="4023360"/>
            <a:ext cx="548640" cy="548640"/>
          </a:xfrm>
          <a:prstGeom prst="ellipse">
            <a:avLst/>
          </a:prstGeom>
          <a:solidFill>
            <a:schemeClr val="accent1"/>
          </a:solidFill>
          <a:ln/>
        </p:spPr>
        <p:txBody>
          <a:bodyPr/>
          <a:lstStyle/>
          <a:p>
            <a:endParaRPr lang="en-US"/>
          </a:p>
        </p:txBody>
      </p:sp>
      <p:pic>
        <p:nvPicPr>
          <p:cNvPr id="23" name="M4 · Capital forecast icon" descr="M4 · Capital forecast icon"/>
          <p:cNvPicPr>
            <a:picLocks noChangeAspect="1"/>
          </p:cNvPicPr>
          <p:nvPr/>
        </p:nvPicPr>
        <p:blipFill>
          <a:blip r:embed="rId6"/>
          <a:stretch>
            <a:fillRect/>
          </a:stretch>
        </p:blipFill>
        <p:spPr>
          <a:xfrm>
            <a:off x="914400" y="4160520"/>
            <a:ext cx="274320" cy="274320"/>
          </a:xfrm>
          <a:prstGeom prst="rect">
            <a:avLst/>
          </a:prstGeom>
        </p:spPr>
      </p:pic>
      <p:sp>
        <p:nvSpPr>
          <p:cNvPr id="24" name="Text 18"/>
          <p:cNvSpPr txBox="1"/>
          <p:nvPr/>
        </p:nvSpPr>
        <p:spPr>
          <a:xfrm>
            <a:off x="1463040" y="4041648"/>
            <a:ext cx="2468880" cy="548640"/>
          </a:xfrm>
          <a:prstGeom prst="rect">
            <a:avLst/>
          </a:prstGeom>
          <a:noFill/>
          <a:ln/>
        </p:spPr>
        <p:txBody>
          <a:bodyPr wrap="square" lIns="0" tIns="0" rIns="0" bIns="0" rtlCol="0" anchor="ctr"/>
          <a:lstStyle/>
          <a:p>
            <a:pPr marL="0" indent="0">
              <a:buNone/>
            </a:pPr>
            <a:r>
              <a:rPr lang="en-US" sz="1600" b="1" dirty="0">
                <a:solidFill>
                  <a:schemeClr val="tx1"/>
                </a:solidFill>
              </a:rPr>
              <a:t>M4 · Capital forecast</a:t>
            </a:r>
            <a:endParaRPr lang="en-US" sz="1600" dirty="0"/>
          </a:p>
        </p:txBody>
      </p:sp>
      <p:sp>
        <p:nvSpPr>
          <p:cNvPr id="25" name="Text 19"/>
          <p:cNvSpPr txBox="1"/>
          <p:nvPr/>
        </p:nvSpPr>
        <p:spPr>
          <a:xfrm>
            <a:off x="777240" y="4709160"/>
            <a:ext cx="3108960" cy="685800"/>
          </a:xfrm>
          <a:prstGeom prst="rect">
            <a:avLst/>
          </a:prstGeom>
          <a:noFill/>
          <a:ln/>
        </p:spPr>
        <p:txBody>
          <a:bodyPr wrap="square" lIns="0" tIns="0" rIns="0" bIns="0" rtlCol="0" anchor="t"/>
          <a:lstStyle/>
          <a:p>
            <a:pPr marL="0" indent="0">
              <a:buNone/>
            </a:pPr>
            <a:r>
              <a:rPr lang="en-US" sz="1300" dirty="0">
                <a:solidFill>
                  <a:schemeClr val="accent6"/>
                </a:solidFill>
              </a:rPr>
              <a:t>Quantile LightGBM + conformal band; pool = P90 + 15%.</a:t>
            </a:r>
            <a:endParaRPr lang="en-US" sz="1300" dirty="0"/>
          </a:p>
        </p:txBody>
      </p:sp>
      <p:sp>
        <p:nvSpPr>
          <p:cNvPr id="26" name="Text 20"/>
          <p:cNvSpPr txBox="1"/>
          <p:nvPr/>
        </p:nvSpPr>
        <p:spPr>
          <a:xfrm>
            <a:off x="777240" y="5440680"/>
            <a:ext cx="3108960" cy="320040"/>
          </a:xfrm>
          <a:prstGeom prst="rect">
            <a:avLst/>
          </a:prstGeom>
          <a:noFill/>
          <a:ln/>
        </p:spPr>
        <p:txBody>
          <a:bodyPr wrap="square" lIns="0" tIns="0" rIns="0" bIns="0" rtlCol="0" anchor="t"/>
          <a:lstStyle/>
          <a:p>
            <a:pPr marL="0" indent="0">
              <a:buNone/>
            </a:pPr>
            <a:r>
              <a:rPr lang="en-US" sz="1300" b="1" dirty="0">
                <a:solidFill>
                  <a:schemeClr val="accent1"/>
                </a:solidFill>
              </a:rPr>
              <a:t>P10–P90 coverage 0.92 A · 0.76 B</a:t>
            </a:r>
            <a:endParaRPr lang="en-US" sz="1300" dirty="0"/>
          </a:p>
        </p:txBody>
      </p:sp>
      <p:sp>
        <p:nvSpPr>
          <p:cNvPr id="27" name="M5 · Borrowing monitor"/>
          <p:cNvSpPr/>
          <p:nvPr/>
        </p:nvSpPr>
        <p:spPr>
          <a:xfrm>
            <a:off x="4297680" y="3794760"/>
            <a:ext cx="3520440" cy="2148840"/>
          </a:xfrm>
          <a:prstGeom prst="roundRect">
            <a:avLst>
              <a:gd name="adj" fmla="val 510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28" name="M5 · Borrowing monitor circle"/>
          <p:cNvSpPr/>
          <p:nvPr/>
        </p:nvSpPr>
        <p:spPr>
          <a:xfrm>
            <a:off x="4526280" y="4023360"/>
            <a:ext cx="548640" cy="548640"/>
          </a:xfrm>
          <a:prstGeom prst="ellipse">
            <a:avLst/>
          </a:prstGeom>
          <a:solidFill>
            <a:schemeClr val="accent1"/>
          </a:solidFill>
          <a:ln/>
        </p:spPr>
        <p:txBody>
          <a:bodyPr/>
          <a:lstStyle/>
          <a:p>
            <a:endParaRPr lang="en-US"/>
          </a:p>
        </p:txBody>
      </p:sp>
      <p:pic>
        <p:nvPicPr>
          <p:cNvPr id="29" name="M5 · Borrowing monitor icon" descr="M5 · Borrowing monitor icon"/>
          <p:cNvPicPr>
            <a:picLocks noChangeAspect="1"/>
          </p:cNvPicPr>
          <p:nvPr/>
        </p:nvPicPr>
        <p:blipFill>
          <a:blip r:embed="rId7"/>
          <a:stretch>
            <a:fillRect/>
          </a:stretch>
        </p:blipFill>
        <p:spPr>
          <a:xfrm>
            <a:off x="4663440" y="4160520"/>
            <a:ext cx="274320" cy="274320"/>
          </a:xfrm>
          <a:prstGeom prst="rect">
            <a:avLst/>
          </a:prstGeom>
        </p:spPr>
      </p:pic>
      <p:sp>
        <p:nvSpPr>
          <p:cNvPr id="30" name="Text 23"/>
          <p:cNvSpPr txBox="1"/>
          <p:nvPr/>
        </p:nvSpPr>
        <p:spPr>
          <a:xfrm>
            <a:off x="5212080" y="4041648"/>
            <a:ext cx="2468880" cy="548640"/>
          </a:xfrm>
          <a:prstGeom prst="rect">
            <a:avLst/>
          </a:prstGeom>
          <a:noFill/>
          <a:ln/>
        </p:spPr>
        <p:txBody>
          <a:bodyPr wrap="square" lIns="0" tIns="0" rIns="0" bIns="0" rtlCol="0" anchor="ctr"/>
          <a:lstStyle/>
          <a:p>
            <a:pPr marL="0" indent="0">
              <a:buNone/>
            </a:pPr>
            <a:r>
              <a:rPr lang="en-US" sz="1600" b="1" dirty="0">
                <a:solidFill>
                  <a:schemeClr val="tx1"/>
                </a:solidFill>
              </a:rPr>
              <a:t>M5 · Borrowing monitor</a:t>
            </a:r>
            <a:endParaRPr lang="en-US" sz="1600" dirty="0"/>
          </a:p>
        </p:txBody>
      </p:sp>
      <p:sp>
        <p:nvSpPr>
          <p:cNvPr id="31" name="Text 24"/>
          <p:cNvSpPr txBox="1"/>
          <p:nvPr/>
        </p:nvSpPr>
        <p:spPr>
          <a:xfrm>
            <a:off x="4526280" y="4709160"/>
            <a:ext cx="3108960" cy="685800"/>
          </a:xfrm>
          <a:prstGeom prst="rect">
            <a:avLst/>
          </a:prstGeom>
          <a:noFill/>
          <a:ln/>
        </p:spPr>
        <p:txBody>
          <a:bodyPr wrap="square" lIns="0" tIns="0" rIns="0" bIns="0" rtlCol="0" anchor="t"/>
          <a:lstStyle/>
          <a:p>
            <a:pPr marL="0" indent="0">
              <a:buNone/>
            </a:pPr>
            <a:r>
              <a:rPr lang="en-US" sz="1300" dirty="0">
                <a:solidFill>
                  <a:schemeClr val="accent6"/>
                </a:solidFill>
              </a:rPr>
              <a:t>IsolationForest flags the top 2% for a person to review.</a:t>
            </a:r>
            <a:endParaRPr lang="en-US" sz="1300" dirty="0"/>
          </a:p>
        </p:txBody>
      </p:sp>
      <p:sp>
        <p:nvSpPr>
          <p:cNvPr id="32" name="Text 25"/>
          <p:cNvSpPr txBox="1"/>
          <p:nvPr/>
        </p:nvSpPr>
        <p:spPr>
          <a:xfrm>
            <a:off x="4526280" y="5440680"/>
            <a:ext cx="3108960" cy="320040"/>
          </a:xfrm>
          <a:prstGeom prst="rect">
            <a:avLst/>
          </a:prstGeom>
          <a:noFill/>
          <a:ln/>
        </p:spPr>
        <p:txBody>
          <a:bodyPr wrap="square" lIns="0" tIns="0" rIns="0" bIns="0" rtlCol="0" anchor="t"/>
          <a:lstStyle/>
          <a:p>
            <a:pPr marL="0" indent="0">
              <a:buNone/>
            </a:pPr>
            <a:r>
              <a:rPr lang="en-US" sz="1300" b="1" dirty="0">
                <a:solidFill>
                  <a:schemeClr val="accent1"/>
                </a:solidFill>
              </a:rPr>
              <a:t>Precision 0.63–0.83 at top 2%</a:t>
            </a:r>
            <a:endParaRPr lang="en-US" sz="1300" dirty="0"/>
          </a:p>
        </p:txBody>
      </p:sp>
      <p:sp>
        <p:nvSpPr>
          <p:cNvPr id="33" name="Claude · explanations"/>
          <p:cNvSpPr/>
          <p:nvPr/>
        </p:nvSpPr>
        <p:spPr>
          <a:xfrm>
            <a:off x="8046720" y="3794760"/>
            <a:ext cx="3520440" cy="2148840"/>
          </a:xfrm>
          <a:prstGeom prst="roundRect">
            <a:avLst>
              <a:gd name="adj" fmla="val 5106"/>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sp>
        <p:nvSpPr>
          <p:cNvPr id="34" name="Claude · explanations circle"/>
          <p:cNvSpPr/>
          <p:nvPr/>
        </p:nvSpPr>
        <p:spPr>
          <a:xfrm>
            <a:off x="8275320" y="4023360"/>
            <a:ext cx="548640" cy="548640"/>
          </a:xfrm>
          <a:prstGeom prst="ellipse">
            <a:avLst/>
          </a:prstGeom>
          <a:solidFill>
            <a:schemeClr val="accent3"/>
          </a:solidFill>
          <a:ln/>
        </p:spPr>
        <p:txBody>
          <a:bodyPr/>
          <a:lstStyle/>
          <a:p>
            <a:endParaRPr lang="en-US"/>
          </a:p>
        </p:txBody>
      </p:sp>
      <p:pic>
        <p:nvPicPr>
          <p:cNvPr id="35" name="Claude · explanations icon" descr="Claude · explanations icon"/>
          <p:cNvPicPr>
            <a:picLocks noChangeAspect="1"/>
          </p:cNvPicPr>
          <p:nvPr/>
        </p:nvPicPr>
        <p:blipFill>
          <a:blip r:embed="rId8"/>
          <a:stretch>
            <a:fillRect/>
          </a:stretch>
        </p:blipFill>
        <p:spPr>
          <a:xfrm>
            <a:off x="8412480" y="4160520"/>
            <a:ext cx="274320" cy="274320"/>
          </a:xfrm>
          <a:prstGeom prst="rect">
            <a:avLst/>
          </a:prstGeom>
        </p:spPr>
      </p:pic>
      <p:sp>
        <p:nvSpPr>
          <p:cNvPr id="36" name="Text 28"/>
          <p:cNvSpPr txBox="1"/>
          <p:nvPr/>
        </p:nvSpPr>
        <p:spPr>
          <a:xfrm>
            <a:off x="8961120" y="4041648"/>
            <a:ext cx="2468880" cy="548640"/>
          </a:xfrm>
          <a:prstGeom prst="rect">
            <a:avLst/>
          </a:prstGeom>
          <a:noFill/>
          <a:ln/>
        </p:spPr>
        <p:txBody>
          <a:bodyPr wrap="square" lIns="0" tIns="0" rIns="0" bIns="0" rtlCol="0" anchor="ctr"/>
          <a:lstStyle/>
          <a:p>
            <a:pPr marL="0" indent="0">
              <a:buNone/>
            </a:pPr>
            <a:r>
              <a:rPr lang="en-US" sz="1600" b="1" dirty="0">
                <a:solidFill>
                  <a:schemeClr val="tx1"/>
                </a:solidFill>
              </a:rPr>
              <a:t>Claude · explanations</a:t>
            </a:r>
            <a:endParaRPr lang="en-US" sz="1600" dirty="0"/>
          </a:p>
        </p:txBody>
      </p:sp>
      <p:sp>
        <p:nvSpPr>
          <p:cNvPr id="37" name="Text 29"/>
          <p:cNvSpPr txBox="1"/>
          <p:nvPr/>
        </p:nvSpPr>
        <p:spPr>
          <a:xfrm>
            <a:off x="8275320" y="4709160"/>
            <a:ext cx="3108960" cy="685800"/>
          </a:xfrm>
          <a:prstGeom prst="rect">
            <a:avLst/>
          </a:prstGeom>
          <a:noFill/>
          <a:ln/>
        </p:spPr>
        <p:txBody>
          <a:bodyPr wrap="square" lIns="0" tIns="0" rIns="0" bIns="0" rtlCol="0" anchor="t"/>
          <a:lstStyle/>
          <a:p>
            <a:pPr marL="0" indent="0">
              <a:buNone/>
            </a:pPr>
            <a:r>
              <a:rPr lang="en-US" sz="1300" dirty="0">
                <a:solidFill>
                  <a:schemeClr val="accent6"/>
                </a:solidFill>
              </a:rPr>
              <a:t>Writes EN/BN text from an allow-listed fact sheet only.</a:t>
            </a:r>
            <a:endParaRPr lang="en-US" sz="1300" dirty="0"/>
          </a:p>
        </p:txBody>
      </p:sp>
      <p:sp>
        <p:nvSpPr>
          <p:cNvPr id="38" name="Text 30"/>
          <p:cNvSpPr txBox="1"/>
          <p:nvPr/>
        </p:nvSpPr>
        <p:spPr>
          <a:xfrm>
            <a:off x="8275320" y="5440680"/>
            <a:ext cx="3108960" cy="320040"/>
          </a:xfrm>
          <a:prstGeom prst="rect">
            <a:avLst/>
          </a:prstGeom>
          <a:noFill/>
          <a:ln/>
        </p:spPr>
        <p:txBody>
          <a:bodyPr wrap="square" lIns="0" tIns="0" rIns="0" bIns="0" rtlCol="0" anchor="t"/>
          <a:lstStyle/>
          <a:p>
            <a:pPr marL="0" indent="0">
              <a:buNone/>
            </a:pPr>
            <a:r>
              <a:rPr lang="en-US" sz="1300" b="1" dirty="0">
                <a:solidFill>
                  <a:schemeClr val="accent3"/>
                </a:solidFill>
              </a:rPr>
              <a:t>Numbers checked; template fallback</a:t>
            </a:r>
            <a:endParaRPr lang="en-US" sz="1300" dirty="0"/>
          </a:p>
        </p:txBody>
      </p:sp>
      <p:sp>
        <p:nvSpPr>
          <p:cNvPr id="39" name="Text 31"/>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100" i="1" dirty="0">
                <a:solidFill>
                  <a:schemeClr val="accent6"/>
                </a:solidFill>
              </a:rPr>
              <a:t>Scores on unseen test months of the training world (Profile A); baselines are simple rules. Every model is point-in-time with leakage tests.</a:t>
            </a:r>
            <a:endParaRPr lang="en-US" sz="1100" dirty="0"/>
          </a:p>
        </p:txBody>
      </p:sp>
      <p:sp>
        <p:nvSpPr>
          <p:cNvPr id="4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Tested before we believed it: ML tiers cut losses</a:t>
            </a:r>
            <a:endParaRPr lang="en-US" sz="3400" dirty="0"/>
          </a:p>
        </p:txBody>
      </p:sp>
      <p:graphicFrame>
        <p:nvGraphicFramePr>
          <p:cNvPr id="3" name="Chart 0"/>
          <p:cNvGraphicFramePr/>
          <p:nvPr/>
        </p:nvGraphicFramePr>
        <p:xfrm>
          <a:off x="548640" y="1371600"/>
          <a:ext cx="55778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5257800"/>
            <a:ext cx="5577840" cy="640080"/>
          </a:xfrm>
          <a:prstGeom prst="rect">
            <a:avLst/>
          </a:prstGeom>
          <a:noFill/>
          <a:ln/>
        </p:spPr>
        <p:txBody>
          <a:bodyPr wrap="square" lIns="0" tIns="0" rIns="0" bIns="0" rtlCol="0" anchor="t"/>
          <a:lstStyle/>
          <a:p>
            <a:pPr marL="0" indent="0">
              <a:buNone/>
            </a:pPr>
            <a:r>
              <a:rPr lang="en-US" sz="1400" dirty="0">
                <a:solidFill>
                  <a:schemeClr val="tx1"/>
                </a:solidFill>
              </a:rPr>
              <a:t>At equal approval, ranking by M3 leaving-risk loses least: 0.62% (A), 1.15% (B).</a:t>
            </a:r>
            <a:endParaRPr lang="en-US" sz="1400" dirty="0"/>
          </a:p>
        </p:txBody>
      </p:sp>
      <p:sp>
        <p:nvSpPr>
          <p:cNvPr id="5" name="Validation targets screen frame"/>
          <p:cNvSpPr/>
          <p:nvPr/>
        </p:nvSpPr>
        <p:spPr>
          <a:xfrm>
            <a:off x="6437376" y="1362456"/>
            <a:ext cx="5184648" cy="3957290"/>
          </a:xfrm>
          <a:prstGeom prst="roundRect">
            <a:avLst>
              <a:gd name="adj" fmla="val 2773"/>
            </a:avLst>
          </a:prstGeom>
          <a:solidFill>
            <a:schemeClr val="bg1"/>
          </a:solidFill>
          <a:ln w="9525">
            <a:solidFill>
              <a:srgbClr val="D5E3DE"/>
            </a:solidFill>
            <a:prstDash val="solid"/>
          </a:ln>
          <a:effectLst>
            <a:outerShdw blurRad="101600" dist="25400" dir="5400000" algn="bl" rotWithShape="0">
              <a:srgbClr val="000000">
                <a:alpha val="12000"/>
              </a:srgbClr>
            </a:outerShdw>
          </a:effectLst>
        </p:spPr>
        <p:txBody>
          <a:bodyPr/>
          <a:lstStyle/>
          <a:p>
            <a:endParaRPr lang="en-US"/>
          </a:p>
        </p:txBody>
      </p:sp>
      <p:pic>
        <p:nvPicPr>
          <p:cNvPr id="6" name="Validation targets screen" descr="Validation targets screen"/>
          <p:cNvPicPr>
            <a:picLocks noChangeAspect="1"/>
          </p:cNvPicPr>
          <p:nvPr/>
        </p:nvPicPr>
        <p:blipFill>
          <a:blip r:embed="rId4"/>
          <a:stretch>
            <a:fillRect/>
          </a:stretch>
        </p:blipFill>
        <p:spPr>
          <a:xfrm>
            <a:off x="6492240" y="1417320"/>
            <a:ext cx="5074920" cy="3847562"/>
          </a:xfrm>
          <a:prstGeom prst="rect">
            <a:avLst/>
          </a:prstGeom>
        </p:spPr>
      </p:pic>
      <p:sp>
        <p:nvSpPr>
          <p:cNvPr id="7" name="Text 3"/>
          <p:cNvSpPr txBox="1"/>
          <p:nvPr/>
        </p:nvSpPr>
        <p:spPr>
          <a:xfrm>
            <a:off x="6492240" y="5493482"/>
            <a:ext cx="5074920" cy="548640"/>
          </a:xfrm>
          <a:prstGeom prst="rect">
            <a:avLst/>
          </a:prstGeom>
          <a:noFill/>
          <a:ln/>
        </p:spPr>
        <p:txBody>
          <a:bodyPr wrap="square" lIns="0" tIns="0" rIns="0" bIns="0" rtlCol="0" anchor="t"/>
          <a:lstStyle/>
          <a:p>
            <a:pPr marL="0" indent="0">
              <a:buNone/>
            </a:pPr>
            <a:r>
              <a:rPr lang="en-US" sz="1400" b="1" dirty="0">
                <a:solidFill>
                  <a:schemeClr val="tx1"/>
                </a:solidFill>
              </a:rPr>
              <a:t>8 of 10 targets declared up front pass. The 2 misses are shown, not hidden.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Safe by design: 32 controls, each guarded by a test</a:t>
            </a:r>
            <a:endParaRPr lang="en-US" sz="3400" dirty="0"/>
          </a:p>
        </p:txBody>
      </p:sp>
      <p:sp>
        <p:nvSpPr>
          <p:cNvPr id="3" name="No debt spiral"/>
          <p:cNvSpPr/>
          <p:nvPr/>
        </p:nvSpPr>
        <p:spPr>
          <a:xfrm>
            <a:off x="548640" y="1417320"/>
            <a:ext cx="5440680" cy="1371600"/>
          </a:xfrm>
          <a:prstGeom prst="roundRect">
            <a:avLst>
              <a:gd name="adj" fmla="val 8000"/>
            </a:avLst>
          </a:prstGeom>
          <a:solidFill>
            <a:schemeClr val="bg2"/>
          </a:solidFill>
          <a:ln/>
        </p:spPr>
        <p:txBody>
          <a:bodyPr/>
          <a:lstStyle/>
          <a:p>
            <a:endParaRPr lang="en-US"/>
          </a:p>
        </p:txBody>
      </p:sp>
      <p:sp>
        <p:nvSpPr>
          <p:cNvPr id="4" name="No debt spiral circle"/>
          <p:cNvSpPr/>
          <p:nvPr/>
        </p:nvSpPr>
        <p:spPr>
          <a:xfrm>
            <a:off x="822960" y="1737360"/>
            <a:ext cx="731520" cy="731520"/>
          </a:xfrm>
          <a:prstGeom prst="ellipse">
            <a:avLst/>
          </a:prstGeom>
          <a:solidFill>
            <a:schemeClr val="accent1"/>
          </a:solidFill>
          <a:ln/>
        </p:spPr>
        <p:txBody>
          <a:bodyPr/>
          <a:lstStyle/>
          <a:p>
            <a:endParaRPr lang="en-US"/>
          </a:p>
        </p:txBody>
      </p:sp>
      <p:pic>
        <p:nvPicPr>
          <p:cNvPr id="5" name="No debt spiral icon" descr="No debt spiral icon"/>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83080" y="1618488"/>
            <a:ext cx="4023360" cy="365760"/>
          </a:xfrm>
          <a:prstGeom prst="rect">
            <a:avLst/>
          </a:prstGeom>
          <a:noFill/>
          <a:ln/>
        </p:spPr>
        <p:txBody>
          <a:bodyPr wrap="square" lIns="0" tIns="0" rIns="0" bIns="0" rtlCol="0" anchor="t"/>
          <a:lstStyle/>
          <a:p>
            <a:pPr marL="0" indent="0">
              <a:buNone/>
            </a:pPr>
            <a:r>
              <a:rPr lang="en-US" sz="1800" b="1" dirty="0">
                <a:solidFill>
                  <a:schemeClr val="tx1"/>
                </a:solidFill>
              </a:rPr>
              <a:t>No debt spiral</a:t>
            </a:r>
            <a:endParaRPr lang="en-US" sz="1800" dirty="0"/>
          </a:p>
        </p:txBody>
      </p:sp>
      <p:sp>
        <p:nvSpPr>
          <p:cNvPr id="7" name="Text 4"/>
          <p:cNvSpPr txBox="1"/>
          <p:nvPr/>
        </p:nvSpPr>
        <p:spPr>
          <a:xfrm>
            <a:off x="1783080" y="2011680"/>
            <a:ext cx="4023360" cy="685800"/>
          </a:xfrm>
          <a:prstGeom prst="rect">
            <a:avLst/>
          </a:prstGeom>
          <a:noFill/>
          <a:ln/>
        </p:spPr>
        <p:txBody>
          <a:bodyPr wrap="square" lIns="0" tIns="0" rIns="0" bIns="0" rtlCol="0" anchor="t"/>
          <a:lstStyle/>
          <a:p>
            <a:pPr marL="0" indent="0">
              <a:buNone/>
            </a:pPr>
            <a:r>
              <a:rPr lang="en-US" sz="1400" dirty="0">
                <a:solidFill>
                  <a:schemeClr val="accent6"/>
                </a:solidFill>
              </a:rPr>
              <a:t>Cap = min(20% of salary, earned − owed). Fee inside earned wages. No interest.</a:t>
            </a:r>
            <a:endParaRPr lang="en-US" sz="1400" dirty="0"/>
          </a:p>
        </p:txBody>
      </p:sp>
      <p:sp>
        <p:nvSpPr>
          <p:cNvPr id="8" name="People decide the edges"/>
          <p:cNvSpPr/>
          <p:nvPr/>
        </p:nvSpPr>
        <p:spPr>
          <a:xfrm>
            <a:off x="6172200" y="1417320"/>
            <a:ext cx="5440680" cy="1371600"/>
          </a:xfrm>
          <a:prstGeom prst="roundRect">
            <a:avLst>
              <a:gd name="adj" fmla="val 8000"/>
            </a:avLst>
          </a:prstGeom>
          <a:solidFill>
            <a:schemeClr val="bg2"/>
          </a:solidFill>
          <a:ln/>
        </p:spPr>
        <p:txBody>
          <a:bodyPr/>
          <a:lstStyle/>
          <a:p>
            <a:endParaRPr lang="en-US"/>
          </a:p>
        </p:txBody>
      </p:sp>
      <p:sp>
        <p:nvSpPr>
          <p:cNvPr id="9" name="People decide the edges circle"/>
          <p:cNvSpPr/>
          <p:nvPr/>
        </p:nvSpPr>
        <p:spPr>
          <a:xfrm>
            <a:off x="6446520" y="1737360"/>
            <a:ext cx="731520" cy="731520"/>
          </a:xfrm>
          <a:prstGeom prst="ellipse">
            <a:avLst/>
          </a:prstGeom>
          <a:solidFill>
            <a:schemeClr val="accent1"/>
          </a:solidFill>
          <a:ln/>
        </p:spPr>
        <p:txBody>
          <a:bodyPr/>
          <a:lstStyle/>
          <a:p>
            <a:endParaRPr lang="en-US"/>
          </a:p>
        </p:txBody>
      </p:sp>
      <p:pic>
        <p:nvPicPr>
          <p:cNvPr id="10" name="People decide the edges icon" descr="People decide the edges icon"/>
          <p:cNvPicPr>
            <a:picLocks noChangeAspect="1"/>
          </p:cNvPicPr>
          <p:nvPr/>
        </p:nvPicPr>
        <p:blipFill>
          <a:blip r:embed="rId4"/>
          <a:stretch>
            <a:fillRect/>
          </a:stretch>
        </p:blipFill>
        <p:spPr>
          <a:xfrm>
            <a:off x="6629400" y="1920240"/>
            <a:ext cx="365760" cy="365760"/>
          </a:xfrm>
          <a:prstGeom prst="rect">
            <a:avLst/>
          </a:prstGeom>
        </p:spPr>
      </p:pic>
      <p:sp>
        <p:nvSpPr>
          <p:cNvPr id="11" name="Text 7"/>
          <p:cNvSpPr txBox="1"/>
          <p:nvPr/>
        </p:nvSpPr>
        <p:spPr>
          <a:xfrm>
            <a:off x="7406640" y="1618488"/>
            <a:ext cx="4023360" cy="365760"/>
          </a:xfrm>
          <a:prstGeom prst="rect">
            <a:avLst/>
          </a:prstGeom>
          <a:noFill/>
          <a:ln/>
        </p:spPr>
        <p:txBody>
          <a:bodyPr wrap="square" lIns="0" tIns="0" rIns="0" bIns="0" rtlCol="0" anchor="t"/>
          <a:lstStyle/>
          <a:p>
            <a:pPr marL="0" indent="0">
              <a:buNone/>
            </a:pPr>
            <a:r>
              <a:rPr lang="en-US" sz="1800" b="1" dirty="0">
                <a:solidFill>
                  <a:schemeClr val="tx1"/>
                </a:solidFill>
              </a:rPr>
              <a:t>People decide the edges</a:t>
            </a:r>
            <a:endParaRPr lang="en-US" sz="1800" dirty="0"/>
          </a:p>
        </p:txBody>
      </p:sp>
      <p:sp>
        <p:nvSpPr>
          <p:cNvPr id="12" name="Text 8"/>
          <p:cNvSpPr txBox="1"/>
          <p:nvPr/>
        </p:nvSpPr>
        <p:spPr>
          <a:xfrm>
            <a:off x="7406640" y="2011680"/>
            <a:ext cx="4023360" cy="685800"/>
          </a:xfrm>
          <a:prstGeom prst="rect">
            <a:avLst/>
          </a:prstGeom>
          <a:noFill/>
          <a:ln/>
        </p:spPr>
        <p:txBody>
          <a:bodyPr wrap="square" lIns="0" tIns="0" rIns="0" bIns="0" rtlCol="0" anchor="t"/>
          <a:lstStyle/>
          <a:p>
            <a:pPr marL="0" indent="0">
              <a:buNone/>
            </a:pPr>
            <a:r>
              <a:rPr lang="en-US" sz="1400" dirty="0">
                <a:solidFill>
                  <a:schemeClr val="accent6"/>
                </a:solidFill>
              </a:rPr>
              <a:t>৳10,000+, tier D and flagged patterns go to a human queue.</a:t>
            </a:r>
            <a:endParaRPr lang="en-US" sz="1400" dirty="0"/>
          </a:p>
        </p:txBody>
      </p:sp>
      <p:sp>
        <p:nvSpPr>
          <p:cNvPr id="13" name="Supportive pause"/>
          <p:cNvSpPr/>
          <p:nvPr/>
        </p:nvSpPr>
        <p:spPr>
          <a:xfrm>
            <a:off x="548640" y="2971800"/>
            <a:ext cx="5440680" cy="1371600"/>
          </a:xfrm>
          <a:prstGeom prst="roundRect">
            <a:avLst>
              <a:gd name="adj" fmla="val 8000"/>
            </a:avLst>
          </a:prstGeom>
          <a:solidFill>
            <a:schemeClr val="bg2"/>
          </a:solidFill>
          <a:ln/>
        </p:spPr>
        <p:txBody>
          <a:bodyPr/>
          <a:lstStyle/>
          <a:p>
            <a:endParaRPr lang="en-US"/>
          </a:p>
        </p:txBody>
      </p:sp>
      <p:sp>
        <p:nvSpPr>
          <p:cNvPr id="14" name="Supportive pause circle"/>
          <p:cNvSpPr/>
          <p:nvPr/>
        </p:nvSpPr>
        <p:spPr>
          <a:xfrm>
            <a:off x="822960" y="3291840"/>
            <a:ext cx="731520" cy="731520"/>
          </a:xfrm>
          <a:prstGeom prst="ellipse">
            <a:avLst/>
          </a:prstGeom>
          <a:solidFill>
            <a:schemeClr val="accent1"/>
          </a:solidFill>
          <a:ln/>
        </p:spPr>
        <p:txBody>
          <a:bodyPr/>
          <a:lstStyle/>
          <a:p>
            <a:endParaRPr lang="en-US"/>
          </a:p>
        </p:txBody>
      </p:sp>
      <p:pic>
        <p:nvPicPr>
          <p:cNvPr id="15" name="Supportive pause icon" descr="Supportive pause icon"/>
          <p:cNvPicPr>
            <a:picLocks noChangeAspect="1"/>
          </p:cNvPicPr>
          <p:nvPr/>
        </p:nvPicPr>
        <p:blipFill>
          <a:blip r:embed="rId5"/>
          <a:stretch>
            <a:fillRect/>
          </a:stretch>
        </p:blipFill>
        <p:spPr>
          <a:xfrm>
            <a:off x="1005840" y="3474720"/>
            <a:ext cx="365760" cy="365760"/>
          </a:xfrm>
          <a:prstGeom prst="rect">
            <a:avLst/>
          </a:prstGeom>
        </p:spPr>
      </p:pic>
      <p:sp>
        <p:nvSpPr>
          <p:cNvPr id="16" name="Text 11"/>
          <p:cNvSpPr txBox="1"/>
          <p:nvPr/>
        </p:nvSpPr>
        <p:spPr>
          <a:xfrm>
            <a:off x="1783080" y="3172968"/>
            <a:ext cx="4023360" cy="365760"/>
          </a:xfrm>
          <a:prstGeom prst="rect">
            <a:avLst/>
          </a:prstGeom>
          <a:noFill/>
          <a:ln/>
        </p:spPr>
        <p:txBody>
          <a:bodyPr wrap="square" lIns="0" tIns="0" rIns="0" bIns="0" rtlCol="0" anchor="t"/>
          <a:lstStyle/>
          <a:p>
            <a:pPr marL="0" indent="0">
              <a:buNone/>
            </a:pPr>
            <a:r>
              <a:rPr lang="en-US" sz="1800" b="1" dirty="0">
                <a:solidFill>
                  <a:schemeClr val="tx1"/>
                </a:solidFill>
              </a:rPr>
              <a:t>Supportive pause</a:t>
            </a:r>
            <a:endParaRPr lang="en-US" sz="1800" dirty="0"/>
          </a:p>
        </p:txBody>
      </p:sp>
      <p:sp>
        <p:nvSpPr>
          <p:cNvPr id="17" name="Text 12"/>
          <p:cNvSpPr txBox="1"/>
          <p:nvPr/>
        </p:nvSpPr>
        <p:spPr>
          <a:xfrm>
            <a:off x="1783080" y="3566160"/>
            <a:ext cx="4023360" cy="685800"/>
          </a:xfrm>
          <a:prstGeom prst="rect">
            <a:avLst/>
          </a:prstGeom>
          <a:noFill/>
          <a:ln/>
        </p:spPr>
        <p:txBody>
          <a:bodyPr wrap="square" lIns="0" tIns="0" rIns="0" bIns="0" rtlCol="0" anchor="t"/>
          <a:lstStyle/>
          <a:p>
            <a:pPr marL="0" indent="0">
              <a:buNone/>
            </a:pPr>
            <a:r>
              <a:rPr lang="en-US" sz="1400" dirty="0">
                <a:solidFill>
                  <a:schemeClr val="accent6"/>
                </a:solidFill>
              </a:rPr>
              <a:t>After 3 months in a row, a cooling-off month, worded as protection.</a:t>
            </a:r>
            <a:endParaRPr lang="en-US" sz="1400" dirty="0"/>
          </a:p>
        </p:txBody>
      </p:sp>
      <p:sp>
        <p:nvSpPr>
          <p:cNvPr id="18" name="Fairness audit"/>
          <p:cNvSpPr/>
          <p:nvPr/>
        </p:nvSpPr>
        <p:spPr>
          <a:xfrm>
            <a:off x="6172200" y="2971800"/>
            <a:ext cx="5440680" cy="1371600"/>
          </a:xfrm>
          <a:prstGeom prst="roundRect">
            <a:avLst>
              <a:gd name="adj" fmla="val 8000"/>
            </a:avLst>
          </a:prstGeom>
          <a:solidFill>
            <a:schemeClr val="bg2"/>
          </a:solidFill>
          <a:ln/>
        </p:spPr>
        <p:txBody>
          <a:bodyPr/>
          <a:lstStyle/>
          <a:p>
            <a:endParaRPr lang="en-US"/>
          </a:p>
        </p:txBody>
      </p:sp>
      <p:sp>
        <p:nvSpPr>
          <p:cNvPr id="19" name="Fairness audit circle"/>
          <p:cNvSpPr/>
          <p:nvPr/>
        </p:nvSpPr>
        <p:spPr>
          <a:xfrm>
            <a:off x="6446520" y="3291840"/>
            <a:ext cx="731520" cy="731520"/>
          </a:xfrm>
          <a:prstGeom prst="ellipse">
            <a:avLst/>
          </a:prstGeom>
          <a:solidFill>
            <a:schemeClr val="accent1"/>
          </a:solidFill>
          <a:ln/>
        </p:spPr>
        <p:txBody>
          <a:bodyPr/>
          <a:lstStyle/>
          <a:p>
            <a:endParaRPr lang="en-US"/>
          </a:p>
        </p:txBody>
      </p:sp>
      <p:pic>
        <p:nvPicPr>
          <p:cNvPr id="20" name="Fairness audit icon" descr="Fairness audit icon"/>
          <p:cNvPicPr>
            <a:picLocks noChangeAspect="1"/>
          </p:cNvPicPr>
          <p:nvPr/>
        </p:nvPicPr>
        <p:blipFill>
          <a:blip r:embed="rId6"/>
          <a:stretch>
            <a:fillRect/>
          </a:stretch>
        </p:blipFill>
        <p:spPr>
          <a:xfrm>
            <a:off x="6629400" y="3474720"/>
            <a:ext cx="365760" cy="365760"/>
          </a:xfrm>
          <a:prstGeom prst="rect">
            <a:avLst/>
          </a:prstGeom>
        </p:spPr>
      </p:pic>
      <p:sp>
        <p:nvSpPr>
          <p:cNvPr id="21" name="Text 15"/>
          <p:cNvSpPr txBox="1"/>
          <p:nvPr/>
        </p:nvSpPr>
        <p:spPr>
          <a:xfrm>
            <a:off x="7406640" y="3172968"/>
            <a:ext cx="4023360" cy="365760"/>
          </a:xfrm>
          <a:prstGeom prst="rect">
            <a:avLst/>
          </a:prstGeom>
          <a:noFill/>
          <a:ln/>
        </p:spPr>
        <p:txBody>
          <a:bodyPr wrap="square" lIns="0" tIns="0" rIns="0" bIns="0" rtlCol="0" anchor="t"/>
          <a:lstStyle/>
          <a:p>
            <a:pPr marL="0" indent="0">
              <a:buNone/>
            </a:pPr>
            <a:r>
              <a:rPr lang="en-US" sz="1800" b="1" dirty="0">
                <a:solidFill>
                  <a:schemeClr val="tx1"/>
                </a:solidFill>
              </a:rPr>
              <a:t>Fairness audit</a:t>
            </a:r>
            <a:endParaRPr lang="en-US" sz="1800" dirty="0"/>
          </a:p>
        </p:txBody>
      </p:sp>
      <p:sp>
        <p:nvSpPr>
          <p:cNvPr id="22" name="Text 16"/>
          <p:cNvSpPr txBox="1"/>
          <p:nvPr/>
        </p:nvSpPr>
        <p:spPr>
          <a:xfrm>
            <a:off x="7406640" y="3566160"/>
            <a:ext cx="4023360" cy="685800"/>
          </a:xfrm>
          <a:prstGeom prst="rect">
            <a:avLst/>
          </a:prstGeom>
          <a:noFill/>
          <a:ln/>
        </p:spPr>
        <p:txBody>
          <a:bodyPr wrap="square" lIns="0" tIns="0" rIns="0" bIns="0" rtlCol="0" anchor="t"/>
          <a:lstStyle/>
          <a:p>
            <a:pPr marL="0" indent="0">
              <a:buNone/>
            </a:pPr>
            <a:r>
              <a:rPr lang="en-US" sz="1400" dirty="0">
                <a:solidFill>
                  <a:schemeClr val="accent6"/>
                </a:solidFill>
              </a:rPr>
              <a:t>Approval gaps by gender, region and employer size must be ≤ 5 pp or explained.</a:t>
            </a:r>
            <a:endParaRPr lang="en-US" sz="1400" dirty="0"/>
          </a:p>
        </p:txBody>
      </p:sp>
      <p:sp>
        <p:nvSpPr>
          <p:cNvPr id="23" name="Capital guard + kill switch"/>
          <p:cNvSpPr/>
          <p:nvPr/>
        </p:nvSpPr>
        <p:spPr>
          <a:xfrm>
            <a:off x="548640" y="4526280"/>
            <a:ext cx="5440680" cy="1371600"/>
          </a:xfrm>
          <a:prstGeom prst="roundRect">
            <a:avLst>
              <a:gd name="adj" fmla="val 8000"/>
            </a:avLst>
          </a:prstGeom>
          <a:solidFill>
            <a:schemeClr val="bg2"/>
          </a:solidFill>
          <a:ln/>
        </p:spPr>
        <p:txBody>
          <a:bodyPr/>
          <a:lstStyle/>
          <a:p>
            <a:endParaRPr lang="en-US"/>
          </a:p>
        </p:txBody>
      </p:sp>
      <p:sp>
        <p:nvSpPr>
          <p:cNvPr id="24" name="Capital guard + kill switch circle"/>
          <p:cNvSpPr/>
          <p:nvPr/>
        </p:nvSpPr>
        <p:spPr>
          <a:xfrm>
            <a:off x="822960" y="4846320"/>
            <a:ext cx="731520" cy="731520"/>
          </a:xfrm>
          <a:prstGeom prst="ellipse">
            <a:avLst/>
          </a:prstGeom>
          <a:solidFill>
            <a:schemeClr val="accent1"/>
          </a:solidFill>
          <a:ln/>
        </p:spPr>
        <p:txBody>
          <a:bodyPr/>
          <a:lstStyle/>
          <a:p>
            <a:endParaRPr lang="en-US"/>
          </a:p>
        </p:txBody>
      </p:sp>
      <p:pic>
        <p:nvPicPr>
          <p:cNvPr id="25" name="Capital guard + kill switch icon" descr="Capital guard + kill switch icon"/>
          <p:cNvPicPr>
            <a:picLocks noChangeAspect="1"/>
          </p:cNvPicPr>
          <p:nvPr/>
        </p:nvPicPr>
        <p:blipFill>
          <a:blip r:embed="rId7"/>
          <a:stretch>
            <a:fillRect/>
          </a:stretch>
        </p:blipFill>
        <p:spPr>
          <a:xfrm>
            <a:off x="1005840" y="5029200"/>
            <a:ext cx="365760" cy="365760"/>
          </a:xfrm>
          <a:prstGeom prst="rect">
            <a:avLst/>
          </a:prstGeom>
        </p:spPr>
      </p:pic>
      <p:sp>
        <p:nvSpPr>
          <p:cNvPr id="26" name="Text 19"/>
          <p:cNvSpPr txBox="1"/>
          <p:nvPr/>
        </p:nvSpPr>
        <p:spPr>
          <a:xfrm>
            <a:off x="1783080" y="4727448"/>
            <a:ext cx="4023360" cy="365760"/>
          </a:xfrm>
          <a:prstGeom prst="rect">
            <a:avLst/>
          </a:prstGeom>
          <a:noFill/>
          <a:ln/>
        </p:spPr>
        <p:txBody>
          <a:bodyPr wrap="square" lIns="0" tIns="0" rIns="0" bIns="0" rtlCol="0" anchor="t"/>
          <a:lstStyle/>
          <a:p>
            <a:pPr marL="0" indent="0">
              <a:buNone/>
            </a:pPr>
            <a:r>
              <a:rPr lang="en-US" sz="1800" b="1" dirty="0">
                <a:solidFill>
                  <a:schemeClr val="tx1"/>
                </a:solidFill>
              </a:rPr>
              <a:t>Capital guard + kill switch</a:t>
            </a:r>
            <a:endParaRPr lang="en-US" sz="1800" dirty="0"/>
          </a:p>
        </p:txBody>
      </p:sp>
      <p:sp>
        <p:nvSpPr>
          <p:cNvPr id="27" name="Text 20"/>
          <p:cNvSpPr txBox="1"/>
          <p:nvPr/>
        </p:nvSpPr>
        <p:spPr>
          <a:xfrm>
            <a:off x="1783080" y="5120640"/>
            <a:ext cx="4023360" cy="685800"/>
          </a:xfrm>
          <a:prstGeom prst="rect">
            <a:avLst/>
          </a:prstGeom>
          <a:noFill/>
          <a:ln/>
        </p:spPr>
        <p:txBody>
          <a:bodyPr wrap="square" lIns="0" tIns="0" rIns="0" bIns="0" rtlCol="0" anchor="t"/>
          <a:lstStyle/>
          <a:p>
            <a:pPr marL="0" indent="0">
              <a:buNone/>
            </a:pPr>
            <a:r>
              <a:rPr lang="en-US" sz="1400" dirty="0">
                <a:solidFill>
                  <a:schemeClr val="accent6"/>
                </a:solidFill>
              </a:rPr>
              <a:t>Pool below P90 + 15% queues requests; one switch pauses all new advances.</a:t>
            </a:r>
            <a:endParaRPr lang="en-US" sz="1400" dirty="0"/>
          </a:p>
        </p:txBody>
      </p:sp>
      <p:sp>
        <p:nvSpPr>
          <p:cNvPr id="28" name="Explained, in Bangla"/>
          <p:cNvSpPr/>
          <p:nvPr/>
        </p:nvSpPr>
        <p:spPr>
          <a:xfrm>
            <a:off x="6172200" y="4526280"/>
            <a:ext cx="5440680" cy="1371600"/>
          </a:xfrm>
          <a:prstGeom prst="roundRect">
            <a:avLst>
              <a:gd name="adj" fmla="val 8000"/>
            </a:avLst>
          </a:prstGeom>
          <a:solidFill>
            <a:schemeClr val="bg2"/>
          </a:solidFill>
          <a:ln/>
        </p:spPr>
        <p:txBody>
          <a:bodyPr/>
          <a:lstStyle/>
          <a:p>
            <a:endParaRPr lang="en-US"/>
          </a:p>
        </p:txBody>
      </p:sp>
      <p:sp>
        <p:nvSpPr>
          <p:cNvPr id="29" name="Explained, in Bangla circle"/>
          <p:cNvSpPr/>
          <p:nvPr/>
        </p:nvSpPr>
        <p:spPr>
          <a:xfrm>
            <a:off x="6446520" y="4846320"/>
            <a:ext cx="731520" cy="731520"/>
          </a:xfrm>
          <a:prstGeom prst="ellipse">
            <a:avLst/>
          </a:prstGeom>
          <a:solidFill>
            <a:schemeClr val="accent1"/>
          </a:solidFill>
          <a:ln/>
        </p:spPr>
        <p:txBody>
          <a:bodyPr/>
          <a:lstStyle/>
          <a:p>
            <a:endParaRPr lang="en-US"/>
          </a:p>
        </p:txBody>
      </p:sp>
      <p:pic>
        <p:nvPicPr>
          <p:cNvPr id="30" name="Explained, in Bangla icon" descr="Explained, in Bangla icon"/>
          <p:cNvPicPr>
            <a:picLocks noChangeAspect="1"/>
          </p:cNvPicPr>
          <p:nvPr/>
        </p:nvPicPr>
        <p:blipFill>
          <a:blip r:embed="rId8"/>
          <a:stretch>
            <a:fillRect/>
          </a:stretch>
        </p:blipFill>
        <p:spPr>
          <a:xfrm>
            <a:off x="6629400" y="5029200"/>
            <a:ext cx="365760" cy="365760"/>
          </a:xfrm>
          <a:prstGeom prst="rect">
            <a:avLst/>
          </a:prstGeom>
        </p:spPr>
      </p:pic>
      <p:sp>
        <p:nvSpPr>
          <p:cNvPr id="31" name="Text 23"/>
          <p:cNvSpPr txBox="1"/>
          <p:nvPr/>
        </p:nvSpPr>
        <p:spPr>
          <a:xfrm>
            <a:off x="7406640" y="4727448"/>
            <a:ext cx="4023360" cy="365760"/>
          </a:xfrm>
          <a:prstGeom prst="rect">
            <a:avLst/>
          </a:prstGeom>
          <a:noFill/>
          <a:ln/>
        </p:spPr>
        <p:txBody>
          <a:bodyPr wrap="square" lIns="0" tIns="0" rIns="0" bIns="0" rtlCol="0" anchor="t"/>
          <a:lstStyle/>
          <a:p>
            <a:pPr marL="0" indent="0">
              <a:buNone/>
            </a:pPr>
            <a:r>
              <a:rPr lang="en-US" sz="1800" b="1" dirty="0">
                <a:solidFill>
                  <a:schemeClr val="tx1"/>
                </a:solidFill>
              </a:rPr>
              <a:t>Explained, in Bangla</a:t>
            </a:r>
            <a:endParaRPr lang="en-US" sz="1800" dirty="0"/>
          </a:p>
        </p:txBody>
      </p:sp>
      <p:sp>
        <p:nvSpPr>
          <p:cNvPr id="32" name="Text 24"/>
          <p:cNvSpPr txBox="1"/>
          <p:nvPr/>
        </p:nvSpPr>
        <p:spPr>
          <a:xfrm>
            <a:off x="7406640" y="5120640"/>
            <a:ext cx="4023360" cy="685800"/>
          </a:xfrm>
          <a:prstGeom prst="rect">
            <a:avLst/>
          </a:prstGeom>
          <a:noFill/>
          <a:ln/>
        </p:spPr>
        <p:txBody>
          <a:bodyPr wrap="square" lIns="0" tIns="0" rIns="0" bIns="0" rtlCol="0" anchor="t"/>
          <a:lstStyle/>
          <a:p>
            <a:pPr marL="0" indent="0">
              <a:buNone/>
            </a:pPr>
            <a:r>
              <a:rPr lang="en-US" sz="1400" dirty="0">
                <a:solidFill>
                  <a:schemeClr val="accent6"/>
                </a:solidFill>
              </a:rPr>
              <a:t>Every decision lists reasons. The LLM sees only allow-listed facts.</a:t>
            </a:r>
            <a:endParaRPr lang="en-US" sz="1400" dirty="0"/>
          </a:p>
        </p:txBody>
      </p:sp>
      <p:sp>
        <p:nvSpPr>
          <p:cNvPr id="33" name="Text 25"/>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200" i="1" dirty="0">
                <a:solidFill>
                  <a:schemeClr val="accent6"/>
                </a:solidFill>
              </a:rPr>
              <a:t>229 automated tests · double-entry ledger reconciled to the paisa · synthetic data only, no real customer data</a:t>
            </a:r>
            <a:endParaRPr lang="en-US" sz="12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Honest economics: ৳25 is too cheap, ৳49 breaks even</a:t>
            </a:r>
            <a:endParaRPr lang="en-US" sz="3400" dirty="0"/>
          </a:p>
        </p:txBody>
      </p:sp>
      <p:graphicFrame>
        <p:nvGraphicFramePr>
          <p:cNvPr id="3" name="Chart 0"/>
          <p:cNvGraphicFramePr/>
          <p:nvPr/>
        </p:nvGraphicFramePr>
        <p:xfrm>
          <a:off x="548640" y="1371600"/>
          <a:ext cx="64008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Economics stat 1"/>
          <p:cNvSpPr/>
          <p:nvPr/>
        </p:nvSpPr>
        <p:spPr>
          <a:xfrm>
            <a:off x="7315200" y="1417320"/>
            <a:ext cx="4297680" cy="1005840"/>
          </a:xfrm>
          <a:prstGeom prst="roundRect">
            <a:avLst>
              <a:gd name="adj" fmla="val 10909"/>
            </a:avLst>
          </a:prstGeom>
          <a:solidFill>
            <a:schemeClr val="bg2"/>
          </a:solidFill>
          <a:ln/>
        </p:spPr>
        <p:txBody>
          <a:bodyPr/>
          <a:lstStyle/>
          <a:p>
            <a:endParaRPr lang="en-US"/>
          </a:p>
        </p:txBody>
      </p:sp>
      <p:sp>
        <p:nvSpPr>
          <p:cNvPr id="5" name="Text 2"/>
          <p:cNvSpPr txBox="1"/>
          <p:nvPr/>
        </p:nvSpPr>
        <p:spPr>
          <a:xfrm>
            <a:off x="7543800" y="1527048"/>
            <a:ext cx="1737360" cy="731520"/>
          </a:xfrm>
          <a:prstGeom prst="rect">
            <a:avLst/>
          </a:prstGeom>
          <a:noFill/>
          <a:ln/>
        </p:spPr>
        <p:txBody>
          <a:bodyPr wrap="square" lIns="0" tIns="0" rIns="0" bIns="0" rtlCol="0" anchor="ctr"/>
          <a:lstStyle/>
          <a:p>
            <a:pPr marL="0" indent="0">
              <a:buNone/>
            </a:pPr>
            <a:r>
              <a:rPr lang="en-US" sz="3000" b="1" dirty="0">
                <a:solidFill>
                  <a:schemeClr val="accent4"/>
                </a:solidFill>
              </a:rPr>
              <a:t>−৳10,876</a:t>
            </a:r>
            <a:endParaRPr lang="en-US" sz="3000" dirty="0"/>
          </a:p>
        </p:txBody>
      </p:sp>
      <p:sp>
        <p:nvSpPr>
          <p:cNvPr id="6" name="Text 3"/>
          <p:cNvSpPr txBox="1"/>
          <p:nvPr/>
        </p:nvSpPr>
        <p:spPr>
          <a:xfrm>
            <a:off x="9326880" y="1527048"/>
            <a:ext cx="2194560" cy="731520"/>
          </a:xfrm>
          <a:prstGeom prst="rect">
            <a:avLst/>
          </a:prstGeom>
          <a:noFill/>
          <a:ln/>
        </p:spPr>
        <p:txBody>
          <a:bodyPr wrap="square" lIns="0" tIns="0" rIns="0" bIns="0" rtlCol="0" anchor="ctr"/>
          <a:lstStyle/>
          <a:p>
            <a:pPr marL="0" indent="0">
              <a:buNone/>
            </a:pPr>
            <a:r>
              <a:rPr lang="en-US" sz="1300" dirty="0">
                <a:solidFill>
                  <a:schemeClr val="tx1"/>
                </a:solidFill>
              </a:rPr>
              <a:t>net per month at ৳25 (Profile A)</a:t>
            </a:r>
            <a:endParaRPr lang="en-US" sz="1300" dirty="0"/>
          </a:p>
        </p:txBody>
      </p:sp>
      <p:sp>
        <p:nvSpPr>
          <p:cNvPr id="7" name="Economics stat 2"/>
          <p:cNvSpPr/>
          <p:nvPr/>
        </p:nvSpPr>
        <p:spPr>
          <a:xfrm>
            <a:off x="7315200" y="2560320"/>
            <a:ext cx="4297680" cy="1005840"/>
          </a:xfrm>
          <a:prstGeom prst="roundRect">
            <a:avLst>
              <a:gd name="adj" fmla="val 10909"/>
            </a:avLst>
          </a:prstGeom>
          <a:solidFill>
            <a:schemeClr val="bg2"/>
          </a:solidFill>
          <a:ln/>
        </p:spPr>
        <p:txBody>
          <a:bodyPr/>
          <a:lstStyle/>
          <a:p>
            <a:endParaRPr lang="en-US"/>
          </a:p>
        </p:txBody>
      </p:sp>
      <p:sp>
        <p:nvSpPr>
          <p:cNvPr id="8" name="Text 5"/>
          <p:cNvSpPr txBox="1"/>
          <p:nvPr/>
        </p:nvSpPr>
        <p:spPr>
          <a:xfrm>
            <a:off x="7543800" y="2670048"/>
            <a:ext cx="1737360" cy="731520"/>
          </a:xfrm>
          <a:prstGeom prst="rect">
            <a:avLst/>
          </a:prstGeom>
          <a:noFill/>
          <a:ln/>
        </p:spPr>
        <p:txBody>
          <a:bodyPr wrap="square" lIns="0" tIns="0" rIns="0" bIns="0" rtlCol="0" anchor="ctr"/>
          <a:lstStyle/>
          <a:p>
            <a:pPr marL="0" indent="0">
              <a:buNone/>
            </a:pPr>
            <a:r>
              <a:rPr lang="en-US" sz="3000" b="1" dirty="0">
                <a:solidFill>
                  <a:schemeClr val="accent1"/>
                </a:solidFill>
              </a:rPr>
              <a:t>৳49</a:t>
            </a:r>
            <a:endParaRPr lang="en-US" sz="3000" dirty="0"/>
          </a:p>
        </p:txBody>
      </p:sp>
      <p:sp>
        <p:nvSpPr>
          <p:cNvPr id="9" name="Text 6"/>
          <p:cNvSpPr txBox="1"/>
          <p:nvPr/>
        </p:nvSpPr>
        <p:spPr>
          <a:xfrm>
            <a:off x="9326880" y="2670048"/>
            <a:ext cx="2194560" cy="731520"/>
          </a:xfrm>
          <a:prstGeom prst="rect">
            <a:avLst/>
          </a:prstGeom>
          <a:noFill/>
          <a:ln/>
        </p:spPr>
        <p:txBody>
          <a:bodyPr wrap="square" lIns="0" tIns="0" rIns="0" bIns="0" rtlCol="0" anchor="ctr"/>
          <a:lstStyle/>
          <a:p>
            <a:pPr marL="0" indent="0">
              <a:buNone/>
            </a:pPr>
            <a:r>
              <a:rPr lang="en-US" sz="1300" dirty="0">
                <a:solidFill>
                  <a:schemeClr val="tx1"/>
                </a:solidFill>
              </a:rPr>
              <a:t>break-even fee · ৳60 in stress world B</a:t>
            </a:r>
            <a:endParaRPr lang="en-US" sz="1300" dirty="0"/>
          </a:p>
        </p:txBody>
      </p:sp>
      <p:sp>
        <p:nvSpPr>
          <p:cNvPr id="10" name="Economics stat 3"/>
          <p:cNvSpPr/>
          <p:nvPr/>
        </p:nvSpPr>
        <p:spPr>
          <a:xfrm>
            <a:off x="7315200" y="3703320"/>
            <a:ext cx="4297680" cy="1005840"/>
          </a:xfrm>
          <a:prstGeom prst="roundRect">
            <a:avLst>
              <a:gd name="adj" fmla="val 10909"/>
            </a:avLst>
          </a:prstGeom>
          <a:solidFill>
            <a:schemeClr val="bg2"/>
          </a:solidFill>
          <a:ln/>
        </p:spPr>
        <p:txBody>
          <a:bodyPr/>
          <a:lstStyle/>
          <a:p>
            <a:endParaRPr lang="en-US"/>
          </a:p>
        </p:txBody>
      </p:sp>
      <p:sp>
        <p:nvSpPr>
          <p:cNvPr id="11" name="Text 8"/>
          <p:cNvSpPr txBox="1"/>
          <p:nvPr/>
        </p:nvSpPr>
        <p:spPr>
          <a:xfrm>
            <a:off x="7543800" y="3813048"/>
            <a:ext cx="1737360" cy="731520"/>
          </a:xfrm>
          <a:prstGeom prst="rect">
            <a:avLst/>
          </a:prstGeom>
          <a:noFill/>
          <a:ln/>
        </p:spPr>
        <p:txBody>
          <a:bodyPr wrap="square" lIns="0" tIns="0" rIns="0" bIns="0" rtlCol="0" anchor="ctr"/>
          <a:lstStyle/>
          <a:p>
            <a:pPr marL="0" indent="0">
              <a:buNone/>
            </a:pPr>
            <a:r>
              <a:rPr lang="en-US" sz="3000" b="1" dirty="0">
                <a:solidFill>
                  <a:schemeClr val="tx1"/>
                </a:solidFill>
              </a:rPr>
              <a:t>1.4%</a:t>
            </a:r>
            <a:endParaRPr lang="en-US" sz="3000" dirty="0"/>
          </a:p>
        </p:txBody>
      </p:sp>
      <p:sp>
        <p:nvSpPr>
          <p:cNvPr id="12" name="Text 9"/>
          <p:cNvSpPr txBox="1"/>
          <p:nvPr/>
        </p:nvSpPr>
        <p:spPr>
          <a:xfrm>
            <a:off x="9326880" y="3813048"/>
            <a:ext cx="2194560" cy="731520"/>
          </a:xfrm>
          <a:prstGeom prst="rect">
            <a:avLst/>
          </a:prstGeom>
          <a:noFill/>
          <a:ln/>
        </p:spPr>
        <p:txBody>
          <a:bodyPr wrap="square" lIns="0" tIns="0" rIns="0" bIns="0" rtlCol="0" anchor="ctr"/>
          <a:lstStyle/>
          <a:p>
            <a:pPr marL="0" indent="0">
              <a:buNone/>
            </a:pPr>
            <a:r>
              <a:rPr lang="en-US" sz="1300" dirty="0">
                <a:solidFill>
                  <a:schemeClr val="tx1"/>
                </a:solidFill>
              </a:rPr>
              <a:t>one-time fee on a ৳3,600 advance at ৳49</a:t>
            </a:r>
            <a:endParaRPr lang="en-US" sz="1300" dirty="0"/>
          </a:p>
        </p:txBody>
      </p:sp>
      <p:sp>
        <p:nvSpPr>
          <p:cNvPr id="13" name="Text 10"/>
          <p:cNvSpPr txBox="1"/>
          <p:nvPr/>
        </p:nvSpPr>
        <p:spPr>
          <a:xfrm>
            <a:off x="7315200" y="4892040"/>
            <a:ext cx="4297680" cy="320040"/>
          </a:xfrm>
          <a:prstGeom prst="rect">
            <a:avLst/>
          </a:prstGeom>
          <a:noFill/>
          <a:ln/>
        </p:spPr>
        <p:txBody>
          <a:bodyPr wrap="square" lIns="0" tIns="0" rIns="0" bIns="0" rtlCol="0" anchor="t"/>
          <a:lstStyle/>
          <a:p>
            <a:pPr marL="0" indent="0">
              <a:buNone/>
            </a:pPr>
            <a:r>
              <a:rPr lang="en-US" sz="1600" b="1" dirty="0">
                <a:solidFill>
                  <a:schemeClr val="tx1"/>
                </a:solidFill>
              </a:rPr>
              <a:t>Paths to viability</a:t>
            </a:r>
            <a:endParaRPr lang="en-US" sz="1600" dirty="0"/>
          </a:p>
        </p:txBody>
      </p:sp>
      <p:sp>
        <p:nvSpPr>
          <p:cNvPr id="14" name="Text 11"/>
          <p:cNvSpPr txBox="1"/>
          <p:nvPr/>
        </p:nvSpPr>
        <p:spPr>
          <a:xfrm>
            <a:off x="7315200" y="5230368"/>
            <a:ext cx="4297680" cy="8686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accent6"/>
                </a:solidFill>
              </a:rPr>
              <a:t>Employer co-pays part of the fee as a staff benefit</a:t>
            </a:r>
            <a:endParaRPr lang="en-US" sz="1300" dirty="0"/>
          </a:p>
          <a:p>
            <a:pPr marL="342900" indent="-342900">
              <a:spcAft>
                <a:spcPts val="300"/>
              </a:spcAft>
              <a:buSzPct val="100000"/>
              <a:buChar char="•"/>
            </a:pPr>
            <a:r>
              <a:rPr lang="en-US" sz="1300" dirty="0">
                <a:solidFill>
                  <a:schemeClr val="accent6"/>
                </a:solidFill>
              </a:rPr>
              <a:t>Value to upay beyond fees: payroll inflow and active wallets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ctr"/>
          <a:lstStyle/>
          <a:p>
            <a:pPr marL="0" indent="0">
              <a:buNone/>
            </a:pPr>
            <a:r>
              <a:rPr lang="en-US" sz="3400" b="1" dirty="0">
                <a:solidFill>
                  <a:schemeClr val="bg1"/>
                </a:solidFill>
                <a:latin typeface="Cambria" pitchFamily="34" charset="0"/>
                <a:ea typeface="Cambria" pitchFamily="34" charset="-122"/>
                <a:cs typeface="Cambria" pitchFamily="34" charset="-120"/>
              </a:rPr>
              <a:t>Next: a 3-month pilot with one employer</a:t>
            </a:r>
            <a:endParaRPr lang="en-US" sz="3400" dirty="0"/>
          </a:p>
        </p:txBody>
      </p:sp>
      <p:sp>
        <p:nvSpPr>
          <p:cNvPr id="3" name="Roadmap step 1"/>
          <p:cNvSpPr/>
          <p:nvPr/>
        </p:nvSpPr>
        <p:spPr>
          <a:xfrm>
            <a:off x="548640" y="1463040"/>
            <a:ext cx="640080" cy="640080"/>
          </a:xfrm>
          <a:prstGeom prst="ellipse">
            <a:avLst/>
          </a:prstGeom>
          <a:solidFill>
            <a:schemeClr val="accent1"/>
          </a:solidFill>
          <a:ln/>
        </p:spPr>
        <p:txBody>
          <a:bodyPr/>
          <a:lstStyle/>
          <a:p>
            <a:endParaRPr lang="en-US"/>
          </a:p>
        </p:txBody>
      </p:sp>
      <p:sp>
        <p:nvSpPr>
          <p:cNvPr id="4" name="Text 2"/>
          <p:cNvSpPr txBox="1"/>
          <p:nvPr/>
        </p:nvSpPr>
        <p:spPr>
          <a:xfrm>
            <a:off x="548640" y="14630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5" name="Text 3"/>
          <p:cNvSpPr txBox="1"/>
          <p:nvPr/>
        </p:nvSpPr>
        <p:spPr>
          <a:xfrm>
            <a:off x="1417320" y="1444752"/>
            <a:ext cx="4389120" cy="365760"/>
          </a:xfrm>
          <a:prstGeom prst="rect">
            <a:avLst/>
          </a:prstGeom>
          <a:noFill/>
          <a:ln/>
        </p:spPr>
        <p:txBody>
          <a:bodyPr wrap="square" lIns="0" tIns="0" rIns="0" bIns="0" rtlCol="0" anchor="t"/>
          <a:lstStyle/>
          <a:p>
            <a:pPr marL="0" indent="0">
              <a:buNone/>
            </a:pPr>
            <a:r>
              <a:rPr lang="en-US" sz="1900" b="1" dirty="0">
                <a:solidFill>
                  <a:schemeClr val="bg1"/>
                </a:solidFill>
              </a:rPr>
              <a:t>Fix the open finding</a:t>
            </a:r>
            <a:endParaRPr lang="en-US" sz="1900" dirty="0"/>
          </a:p>
        </p:txBody>
      </p:sp>
      <p:sp>
        <p:nvSpPr>
          <p:cNvPr id="6" name="Text 4"/>
          <p:cNvSpPr txBox="1"/>
          <p:nvPr/>
        </p:nvSpPr>
        <p:spPr>
          <a:xfrm>
            <a:off x="1417320" y="1828800"/>
            <a:ext cx="4389120" cy="777240"/>
          </a:xfrm>
          <a:prstGeom prst="rect">
            <a:avLst/>
          </a:prstGeom>
          <a:noFill/>
          <a:ln/>
        </p:spPr>
        <p:txBody>
          <a:bodyPr wrap="square" lIns="0" tIns="0" rIns="0" bIns="0" rtlCol="0" anchor="t"/>
          <a:lstStyle/>
          <a:p>
            <a:pPr marL="0" indent="0">
              <a:buNone/>
            </a:pPr>
            <a:r>
              <a:rPr lang="en-US" sz="1400" dirty="0">
                <a:solidFill>
                  <a:schemeClr val="bg2"/>
                </a:solidFill>
              </a:rPr>
              <a:t>Retrain M2/M3 without employer headcount and re-run the fairness audit.</a:t>
            </a:r>
            <a:endParaRPr lang="en-US" sz="1400" dirty="0"/>
          </a:p>
        </p:txBody>
      </p:sp>
      <p:sp>
        <p:nvSpPr>
          <p:cNvPr id="7" name="Roadmap step 2"/>
          <p:cNvSpPr/>
          <p:nvPr/>
        </p:nvSpPr>
        <p:spPr>
          <a:xfrm>
            <a:off x="548640" y="2834640"/>
            <a:ext cx="640080" cy="640080"/>
          </a:xfrm>
          <a:prstGeom prst="ellipse">
            <a:avLst/>
          </a:prstGeom>
          <a:solidFill>
            <a:schemeClr val="accent1"/>
          </a:solidFill>
          <a:ln/>
        </p:spPr>
        <p:txBody>
          <a:bodyPr/>
          <a:lstStyle/>
          <a:p>
            <a:endParaRPr lang="en-US"/>
          </a:p>
        </p:txBody>
      </p:sp>
      <p:sp>
        <p:nvSpPr>
          <p:cNvPr id="8" name="Text 6"/>
          <p:cNvSpPr txBox="1"/>
          <p:nvPr/>
        </p:nvSpPr>
        <p:spPr>
          <a:xfrm>
            <a:off x="548640" y="28346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9" name="Text 7"/>
          <p:cNvSpPr txBox="1"/>
          <p:nvPr/>
        </p:nvSpPr>
        <p:spPr>
          <a:xfrm>
            <a:off x="1417320" y="2816352"/>
            <a:ext cx="4389120" cy="365760"/>
          </a:xfrm>
          <a:prstGeom prst="rect">
            <a:avLst/>
          </a:prstGeom>
          <a:noFill/>
          <a:ln/>
        </p:spPr>
        <p:txBody>
          <a:bodyPr wrap="square" lIns="0" tIns="0" rIns="0" bIns="0" rtlCol="0" anchor="t"/>
          <a:lstStyle/>
          <a:p>
            <a:pPr marL="0" indent="0">
              <a:buNone/>
            </a:pPr>
            <a:r>
              <a:rPr lang="en-US" sz="1900" b="1" dirty="0">
                <a:solidFill>
                  <a:schemeClr val="bg1"/>
                </a:solidFill>
              </a:rPr>
              <a:t>Pilot</a:t>
            </a:r>
            <a:endParaRPr lang="en-US" sz="1900" dirty="0"/>
          </a:p>
        </p:txBody>
      </p:sp>
      <p:sp>
        <p:nvSpPr>
          <p:cNvPr id="10" name="Text 8"/>
          <p:cNvSpPr txBox="1"/>
          <p:nvPr/>
        </p:nvSpPr>
        <p:spPr>
          <a:xfrm>
            <a:off x="1417320" y="3200400"/>
            <a:ext cx="4389120" cy="777240"/>
          </a:xfrm>
          <a:prstGeom prst="rect">
            <a:avLst/>
          </a:prstGeom>
          <a:noFill/>
          <a:ln/>
        </p:spPr>
        <p:txBody>
          <a:bodyPr wrap="square" lIns="0" tIns="0" rIns="0" bIns="0" rtlCol="0" anchor="t"/>
          <a:lstStyle/>
          <a:p>
            <a:pPr marL="0" indent="0">
              <a:buNone/>
            </a:pPr>
            <a:r>
              <a:rPr lang="en-US" sz="1400" dirty="0">
                <a:solidFill>
                  <a:schemeClr val="bg2"/>
                </a:solidFill>
              </a:rPr>
              <a:t>One garment employer: real payroll file, upay sandbox wallets, weekly reviews.</a:t>
            </a:r>
            <a:endParaRPr lang="en-US" sz="1400" dirty="0"/>
          </a:p>
        </p:txBody>
      </p:sp>
      <p:sp>
        <p:nvSpPr>
          <p:cNvPr id="11" name="Roadmap step 3"/>
          <p:cNvSpPr/>
          <p:nvPr/>
        </p:nvSpPr>
        <p:spPr>
          <a:xfrm>
            <a:off x="548640" y="4206240"/>
            <a:ext cx="640080" cy="640080"/>
          </a:xfrm>
          <a:prstGeom prst="ellipse">
            <a:avLst/>
          </a:prstGeom>
          <a:solidFill>
            <a:schemeClr val="accent1"/>
          </a:solidFill>
          <a:ln/>
        </p:spPr>
        <p:txBody>
          <a:bodyPr/>
          <a:lstStyle/>
          <a:p>
            <a:endParaRPr lang="en-US"/>
          </a:p>
        </p:txBody>
      </p:sp>
      <p:sp>
        <p:nvSpPr>
          <p:cNvPr id="12" name="Text 10"/>
          <p:cNvSpPr txBox="1"/>
          <p:nvPr/>
        </p:nvSpPr>
        <p:spPr>
          <a:xfrm>
            <a:off x="548640" y="42062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3" name="Text 11"/>
          <p:cNvSpPr txBox="1"/>
          <p:nvPr/>
        </p:nvSpPr>
        <p:spPr>
          <a:xfrm>
            <a:off x="1417320" y="4187952"/>
            <a:ext cx="4389120" cy="365760"/>
          </a:xfrm>
          <a:prstGeom prst="rect">
            <a:avLst/>
          </a:prstGeom>
          <a:noFill/>
          <a:ln/>
        </p:spPr>
        <p:txBody>
          <a:bodyPr wrap="square" lIns="0" tIns="0" rIns="0" bIns="0" rtlCol="0" anchor="t"/>
          <a:lstStyle/>
          <a:p>
            <a:pPr marL="0" indent="0">
              <a:buNone/>
            </a:pPr>
            <a:r>
              <a:rPr lang="en-US" sz="1900" b="1" dirty="0">
                <a:solidFill>
                  <a:schemeClr val="bg1"/>
                </a:solidFill>
              </a:rPr>
              <a:t>Integrate</a:t>
            </a:r>
            <a:endParaRPr lang="en-US" sz="1900" dirty="0"/>
          </a:p>
        </p:txBody>
      </p:sp>
      <p:sp>
        <p:nvSpPr>
          <p:cNvPr id="14" name="Text 12"/>
          <p:cNvSpPr txBox="1"/>
          <p:nvPr/>
        </p:nvSpPr>
        <p:spPr>
          <a:xfrm>
            <a:off x="1417320" y="4572000"/>
            <a:ext cx="4389120" cy="777240"/>
          </a:xfrm>
          <a:prstGeom prst="rect">
            <a:avLst/>
          </a:prstGeom>
          <a:noFill/>
          <a:ln/>
        </p:spPr>
        <p:txBody>
          <a:bodyPr wrap="square" lIns="0" tIns="0" rIns="0" bIns="0" rtlCol="0" anchor="t"/>
          <a:lstStyle/>
          <a:p>
            <a:pPr marL="0" indent="0">
              <a:buNone/>
            </a:pPr>
            <a:r>
              <a:rPr lang="en-US" sz="1400" dirty="0">
                <a:solidFill>
                  <a:schemeClr val="bg2"/>
                </a:solidFill>
              </a:rPr>
              <a:t>Module inside the upay app, employer portal, upay KYC and ledger, regulatory review.</a:t>
            </a:r>
            <a:endParaRPr lang="en-US" sz="1400" dirty="0"/>
          </a:p>
        </p:txBody>
      </p:sp>
      <p:sp>
        <p:nvSpPr>
          <p:cNvPr id="15" name="Links"/>
          <p:cNvSpPr/>
          <p:nvPr/>
        </p:nvSpPr>
        <p:spPr>
          <a:xfrm>
            <a:off x="548640" y="5532120"/>
            <a:ext cx="5257800" cy="640080"/>
          </a:xfrm>
          <a:prstGeom prst="roundRect">
            <a:avLst>
              <a:gd name="adj" fmla="val 17143"/>
            </a:avLst>
          </a:prstGeom>
          <a:solidFill>
            <a:srgbClr val="124A41"/>
          </a:solidFill>
          <a:ln/>
        </p:spPr>
        <p:txBody>
          <a:bodyPr/>
          <a:lstStyle/>
          <a:p>
            <a:endParaRPr lang="en-US"/>
          </a:p>
        </p:txBody>
      </p:sp>
      <p:sp>
        <p:nvSpPr>
          <p:cNvPr id="16" name="Links (edit live URL)"/>
          <p:cNvSpPr txBox="1"/>
          <p:nvPr/>
        </p:nvSpPr>
        <p:spPr>
          <a:xfrm>
            <a:off x="777240" y="5623560"/>
            <a:ext cx="4937760" cy="457200"/>
          </a:xfrm>
          <a:prstGeom prst="rect">
            <a:avLst/>
          </a:prstGeom>
          <a:noFill/>
          <a:ln/>
        </p:spPr>
        <p:txBody>
          <a:bodyPr wrap="square" lIns="0" tIns="0" rIns="0" bIns="0" rtlCol="0" anchor="ctr"/>
          <a:lstStyle/>
          <a:p>
            <a:r>
              <a:rPr lang="en-US" sz="1300" b="1" dirty="0">
                <a:solidFill>
                  <a:schemeClr val="accent5"/>
                </a:solidFill>
              </a:rPr>
              <a:t>Code  </a:t>
            </a:r>
            <a:r>
              <a:rPr lang="en-US" sz="1300" u="sng" dirty="0">
                <a:solidFill>
                  <a:schemeClr val="bg1"/>
                </a:solidFill>
                <a:hlinkClick r:id="rId3">
                  <a:extLst>
                    <a:ext uri="{A12FA001-AC4F-418D-AE19-62706E023703}">
                      <ahyp:hlinkClr xmlns:ahyp="http://schemas.microsoft.com/office/drawing/2018/hyperlinkcolor" val="tx"/>
                    </a:ext>
                  </a:extLst>
                </a:hlinkClick>
              </a:rPr>
              <a:t>github.com/aqshanto/</a:t>
            </a:r>
            <a:r>
              <a:rPr lang="en-US" sz="1300" u="sng" dirty="0" err="1">
                <a:solidFill>
                  <a:schemeClr val="bg1"/>
                </a:solidFill>
                <a:hlinkClick r:id="rId3">
                  <a:extLst>
                    <a:ext uri="{A12FA001-AC4F-418D-AE19-62706E023703}">
                      <ahyp:hlinkClr xmlns:ahyp="http://schemas.microsoft.com/office/drawing/2018/hyperlinkcolor" val="tx"/>
                    </a:ext>
                  </a:extLst>
                </a:hlinkClick>
              </a:rPr>
              <a:t>SalaryBridge</a:t>
            </a:r>
            <a:r>
              <a:rPr lang="en-US" sz="1300" b="1" dirty="0">
                <a:solidFill>
                  <a:schemeClr val="accent5"/>
                </a:solidFill>
              </a:rPr>
              <a:t>    </a:t>
            </a:r>
          </a:p>
          <a:p>
            <a:r>
              <a:rPr lang="en-US" sz="1300" b="1" dirty="0">
                <a:solidFill>
                  <a:schemeClr val="accent5"/>
                </a:solidFill>
              </a:rPr>
              <a:t>Live  </a:t>
            </a:r>
            <a:r>
              <a:rPr lang="en-US" sz="1300" u="sng" dirty="0">
                <a:solidFill>
                  <a:schemeClr val="bg1"/>
                </a:solidFill>
                <a:hlinkClick r:id="rId4">
                  <a:extLst>
                    <a:ext uri="{A12FA001-AC4F-418D-AE19-62706E023703}">
                      <ahyp:hlinkClr xmlns:ahyp="http://schemas.microsoft.com/office/drawing/2018/hyperlinkcolor" val="tx"/>
                    </a:ext>
                  </a:extLst>
                </a:hlinkClick>
              </a:rPr>
              <a:t>https://salary-bridge-iota.vercel.app</a:t>
            </a:r>
            <a:endParaRPr lang="en-US" sz="1300" u="sng" dirty="0">
              <a:solidFill>
                <a:schemeClr val="bg1"/>
              </a:solidFill>
            </a:endParaRPr>
          </a:p>
        </p:txBody>
      </p:sp>
      <p:sp>
        <p:nvSpPr>
          <p:cNvPr id="17" name="Team name (edit)"/>
          <p:cNvSpPr txBox="1"/>
          <p:nvPr/>
        </p:nvSpPr>
        <p:spPr>
          <a:xfrm>
            <a:off x="6355080" y="1417320"/>
            <a:ext cx="5257800" cy="50292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NeuroVerse</a:t>
            </a:r>
            <a:endParaRPr lang="en-US" sz="2600" dirty="0"/>
          </a:p>
        </p:txBody>
      </p:sp>
      <p:sp>
        <p:nvSpPr>
          <p:cNvPr id="18" name="Member card 1"/>
          <p:cNvSpPr/>
          <p:nvPr/>
        </p:nvSpPr>
        <p:spPr>
          <a:xfrm>
            <a:off x="6355080" y="2103120"/>
            <a:ext cx="5257800" cy="1143000"/>
          </a:xfrm>
          <a:prstGeom prst="roundRect">
            <a:avLst>
              <a:gd name="adj" fmla="val 9600"/>
            </a:avLst>
          </a:prstGeom>
          <a:solidFill>
            <a:srgbClr val="124A41"/>
          </a:solidFill>
          <a:ln/>
        </p:spPr>
        <p:txBody>
          <a:bodyPr/>
          <a:lstStyle/>
          <a:p>
            <a:endParaRPr lang="en-US"/>
          </a:p>
        </p:txBody>
      </p:sp>
      <p:sp>
        <p:nvSpPr>
          <p:cNvPr id="19" name="Member 1 circle"/>
          <p:cNvSpPr/>
          <p:nvPr/>
        </p:nvSpPr>
        <p:spPr>
          <a:xfrm>
            <a:off x="6583680" y="2331720"/>
            <a:ext cx="685800" cy="685800"/>
          </a:xfrm>
          <a:prstGeom prst="ellipse">
            <a:avLst/>
          </a:prstGeom>
          <a:solidFill>
            <a:schemeClr val="accent1"/>
          </a:solidFill>
          <a:ln/>
        </p:spPr>
        <p:txBody>
          <a:bodyPr/>
          <a:lstStyle/>
          <a:p>
            <a:endParaRPr lang="en-US"/>
          </a:p>
        </p:txBody>
      </p:sp>
      <p:pic>
        <p:nvPicPr>
          <p:cNvPr id="20" name="Member 1 icon" descr="Member 1 icon"/>
          <p:cNvPicPr>
            <a:picLocks noChangeAspect="1"/>
          </p:cNvPicPr>
          <p:nvPr/>
        </p:nvPicPr>
        <p:blipFill>
          <a:blip r:embed="rId5"/>
          <a:stretch>
            <a:fillRect/>
          </a:stretch>
        </p:blipFill>
        <p:spPr>
          <a:xfrm>
            <a:off x="6755130" y="2503170"/>
            <a:ext cx="342900" cy="342900"/>
          </a:xfrm>
          <a:prstGeom prst="rect">
            <a:avLst/>
          </a:prstGeom>
        </p:spPr>
      </p:pic>
      <p:sp>
        <p:nvSpPr>
          <p:cNvPr id="21" name="Member 1 name (edit)"/>
          <p:cNvSpPr txBox="1"/>
          <p:nvPr/>
        </p:nvSpPr>
        <p:spPr>
          <a:xfrm>
            <a:off x="7498080" y="2267712"/>
            <a:ext cx="3931920" cy="411480"/>
          </a:xfrm>
          <a:prstGeom prst="rect">
            <a:avLst/>
          </a:prstGeom>
          <a:noFill/>
          <a:ln/>
        </p:spPr>
        <p:txBody>
          <a:bodyPr wrap="square" lIns="0" tIns="0" rIns="0" bIns="0" rtlCol="0" anchor="t"/>
          <a:lstStyle/>
          <a:p>
            <a:pPr marL="0" indent="0">
              <a:buNone/>
            </a:pPr>
            <a:r>
              <a:rPr lang="en-US" sz="1900" b="1" dirty="0">
                <a:solidFill>
                  <a:schemeClr val="bg1"/>
                </a:solidFill>
              </a:rPr>
              <a:t>Md Abdul Quym Shanto </a:t>
            </a:r>
            <a:endParaRPr lang="en-US" sz="1900" dirty="0"/>
          </a:p>
        </p:txBody>
      </p:sp>
      <p:sp>
        <p:nvSpPr>
          <p:cNvPr id="22" name="Member 1 details (edit)"/>
          <p:cNvSpPr txBox="1"/>
          <p:nvPr/>
        </p:nvSpPr>
        <p:spPr>
          <a:xfrm>
            <a:off x="7498080" y="2583180"/>
            <a:ext cx="3931920" cy="681228"/>
          </a:xfrm>
          <a:prstGeom prst="rect">
            <a:avLst/>
          </a:prstGeom>
          <a:noFill/>
          <a:ln/>
        </p:spPr>
        <p:txBody>
          <a:bodyPr wrap="square" lIns="0" tIns="0" rIns="0" bIns="0" rtlCol="0" anchor="t"/>
          <a:lstStyle/>
          <a:p>
            <a:pPr marL="0" indent="0">
              <a:buNone/>
            </a:pPr>
            <a:r>
              <a:rPr lang="en-US" sz="1300" dirty="0">
                <a:solidFill>
                  <a:schemeClr val="accent5"/>
                </a:solidFill>
              </a:rPr>
              <a:t>Leader , Frontend, Ai Engineer ·  </a:t>
            </a:r>
          </a:p>
          <a:p>
            <a:pPr marL="0" indent="0">
              <a:buNone/>
            </a:pPr>
            <a:r>
              <a:rPr lang="en-US" sz="1300" dirty="0">
                <a:solidFill>
                  <a:schemeClr val="accent5"/>
                </a:solidFill>
              </a:rPr>
              <a:t>CSE Department, Daffodil International University  ·  quym241-15-053@diu.edu.bd</a:t>
            </a:r>
            <a:endParaRPr lang="en-US" sz="1300" dirty="0"/>
          </a:p>
        </p:txBody>
      </p:sp>
      <p:sp>
        <p:nvSpPr>
          <p:cNvPr id="23" name="Member card 2"/>
          <p:cNvSpPr/>
          <p:nvPr/>
        </p:nvSpPr>
        <p:spPr>
          <a:xfrm>
            <a:off x="6355080" y="3429000"/>
            <a:ext cx="5257800" cy="1143000"/>
          </a:xfrm>
          <a:prstGeom prst="roundRect">
            <a:avLst>
              <a:gd name="adj" fmla="val 9600"/>
            </a:avLst>
          </a:prstGeom>
          <a:solidFill>
            <a:srgbClr val="124A41"/>
          </a:solidFill>
          <a:ln/>
        </p:spPr>
        <p:txBody>
          <a:bodyPr/>
          <a:lstStyle/>
          <a:p>
            <a:endParaRPr lang="en-US"/>
          </a:p>
        </p:txBody>
      </p:sp>
      <p:sp>
        <p:nvSpPr>
          <p:cNvPr id="24" name="Member 2 circle"/>
          <p:cNvSpPr/>
          <p:nvPr/>
        </p:nvSpPr>
        <p:spPr>
          <a:xfrm>
            <a:off x="6583680" y="3657600"/>
            <a:ext cx="685800" cy="685800"/>
          </a:xfrm>
          <a:prstGeom prst="ellipse">
            <a:avLst/>
          </a:prstGeom>
          <a:solidFill>
            <a:schemeClr val="accent1"/>
          </a:solidFill>
          <a:ln/>
        </p:spPr>
        <p:txBody>
          <a:bodyPr/>
          <a:lstStyle/>
          <a:p>
            <a:endParaRPr lang="en-US"/>
          </a:p>
        </p:txBody>
      </p:sp>
      <p:pic>
        <p:nvPicPr>
          <p:cNvPr id="25" name="Member 2 icon" descr="Member 2 icon"/>
          <p:cNvPicPr>
            <a:picLocks noChangeAspect="1"/>
          </p:cNvPicPr>
          <p:nvPr/>
        </p:nvPicPr>
        <p:blipFill>
          <a:blip r:embed="rId5"/>
          <a:stretch>
            <a:fillRect/>
          </a:stretch>
        </p:blipFill>
        <p:spPr>
          <a:xfrm>
            <a:off x="6755130" y="3829050"/>
            <a:ext cx="342900" cy="342900"/>
          </a:xfrm>
          <a:prstGeom prst="rect">
            <a:avLst/>
          </a:prstGeom>
        </p:spPr>
      </p:pic>
      <p:sp>
        <p:nvSpPr>
          <p:cNvPr id="26" name="Member 2 name (edit)"/>
          <p:cNvSpPr txBox="1"/>
          <p:nvPr/>
        </p:nvSpPr>
        <p:spPr>
          <a:xfrm>
            <a:off x="7498080" y="3593592"/>
            <a:ext cx="3931920" cy="411480"/>
          </a:xfrm>
          <a:prstGeom prst="rect">
            <a:avLst/>
          </a:prstGeom>
          <a:noFill/>
          <a:ln/>
        </p:spPr>
        <p:txBody>
          <a:bodyPr wrap="square" lIns="0" tIns="0" rIns="0" bIns="0" rtlCol="0" anchor="t"/>
          <a:lstStyle/>
          <a:p>
            <a:pPr marL="0" indent="0">
              <a:buNone/>
            </a:pPr>
            <a:r>
              <a:rPr lang="en-US" sz="1900" b="1" dirty="0">
                <a:solidFill>
                  <a:schemeClr val="bg1"/>
                </a:solidFill>
              </a:rPr>
              <a:t>Sajid Ahasan</a:t>
            </a:r>
            <a:endParaRPr lang="en-US" sz="1900" dirty="0"/>
          </a:p>
        </p:txBody>
      </p:sp>
      <p:sp>
        <p:nvSpPr>
          <p:cNvPr id="27" name="Member 2 details (edit)"/>
          <p:cNvSpPr txBox="1"/>
          <p:nvPr/>
        </p:nvSpPr>
        <p:spPr>
          <a:xfrm>
            <a:off x="7498080" y="3904488"/>
            <a:ext cx="3931920" cy="566928"/>
          </a:xfrm>
          <a:prstGeom prst="rect">
            <a:avLst/>
          </a:prstGeom>
          <a:noFill/>
          <a:ln/>
        </p:spPr>
        <p:txBody>
          <a:bodyPr wrap="square" lIns="0" tIns="0" rIns="0" bIns="0" rtlCol="0" anchor="t"/>
          <a:lstStyle/>
          <a:p>
            <a:pPr marL="0" indent="0">
              <a:buNone/>
            </a:pPr>
            <a:r>
              <a:rPr lang="en-US" sz="1300" dirty="0">
                <a:solidFill>
                  <a:schemeClr val="accent5"/>
                </a:solidFill>
              </a:rPr>
              <a:t>Ai/ML ·  </a:t>
            </a:r>
          </a:p>
          <a:p>
            <a:r>
              <a:rPr lang="en-US" sz="1300" dirty="0">
                <a:solidFill>
                  <a:schemeClr val="accent5"/>
                </a:solidFill>
              </a:rPr>
              <a:t>CSE Department, Daffodil International University  ·  sajid241-15-909@diu.edu.bd</a:t>
            </a:r>
            <a:endParaRPr lang="en-US" sz="1300" dirty="0"/>
          </a:p>
        </p:txBody>
      </p:sp>
      <p:sp>
        <p:nvSpPr>
          <p:cNvPr id="28" name="Member card 3"/>
          <p:cNvSpPr/>
          <p:nvPr/>
        </p:nvSpPr>
        <p:spPr>
          <a:xfrm>
            <a:off x="6355080" y="4754880"/>
            <a:ext cx="5257800" cy="1143000"/>
          </a:xfrm>
          <a:prstGeom prst="roundRect">
            <a:avLst>
              <a:gd name="adj" fmla="val 9600"/>
            </a:avLst>
          </a:prstGeom>
          <a:solidFill>
            <a:srgbClr val="124A41"/>
          </a:solidFill>
          <a:ln/>
        </p:spPr>
        <p:txBody>
          <a:bodyPr/>
          <a:lstStyle/>
          <a:p>
            <a:endParaRPr lang="en-US"/>
          </a:p>
        </p:txBody>
      </p:sp>
      <p:sp>
        <p:nvSpPr>
          <p:cNvPr id="29" name="Member 3 circle"/>
          <p:cNvSpPr/>
          <p:nvPr/>
        </p:nvSpPr>
        <p:spPr>
          <a:xfrm>
            <a:off x="6583680" y="4983480"/>
            <a:ext cx="685800" cy="685800"/>
          </a:xfrm>
          <a:prstGeom prst="ellipse">
            <a:avLst/>
          </a:prstGeom>
          <a:solidFill>
            <a:schemeClr val="accent1"/>
          </a:solidFill>
          <a:ln/>
        </p:spPr>
        <p:txBody>
          <a:bodyPr/>
          <a:lstStyle/>
          <a:p>
            <a:endParaRPr lang="en-US"/>
          </a:p>
        </p:txBody>
      </p:sp>
      <p:pic>
        <p:nvPicPr>
          <p:cNvPr id="30" name="Member 3 icon" descr="Member 3 icon"/>
          <p:cNvPicPr>
            <a:picLocks noChangeAspect="1"/>
          </p:cNvPicPr>
          <p:nvPr/>
        </p:nvPicPr>
        <p:blipFill>
          <a:blip r:embed="rId5"/>
          <a:stretch>
            <a:fillRect/>
          </a:stretch>
        </p:blipFill>
        <p:spPr>
          <a:xfrm>
            <a:off x="6755130" y="5154930"/>
            <a:ext cx="342900" cy="342900"/>
          </a:xfrm>
          <a:prstGeom prst="rect">
            <a:avLst/>
          </a:prstGeom>
        </p:spPr>
      </p:pic>
      <p:sp>
        <p:nvSpPr>
          <p:cNvPr id="31" name="Member 3 name (edit)"/>
          <p:cNvSpPr txBox="1"/>
          <p:nvPr/>
        </p:nvSpPr>
        <p:spPr>
          <a:xfrm>
            <a:off x="7498080" y="4919472"/>
            <a:ext cx="3931920" cy="411480"/>
          </a:xfrm>
          <a:prstGeom prst="rect">
            <a:avLst/>
          </a:prstGeom>
          <a:noFill/>
          <a:ln/>
        </p:spPr>
        <p:txBody>
          <a:bodyPr wrap="square" lIns="0" tIns="0" rIns="0" bIns="0" rtlCol="0" anchor="t"/>
          <a:lstStyle/>
          <a:p>
            <a:pPr marL="0" indent="0">
              <a:buNone/>
            </a:pPr>
            <a:r>
              <a:rPr lang="en-US" sz="1900" b="1" dirty="0">
                <a:solidFill>
                  <a:schemeClr val="bg1"/>
                </a:solidFill>
              </a:rPr>
              <a:t>Sakibul Hasan Sakib</a:t>
            </a:r>
            <a:endParaRPr lang="en-US" sz="1900" dirty="0"/>
          </a:p>
        </p:txBody>
      </p:sp>
      <p:sp>
        <p:nvSpPr>
          <p:cNvPr id="32" name="Member 3 details (edit)"/>
          <p:cNvSpPr txBox="1"/>
          <p:nvPr/>
        </p:nvSpPr>
        <p:spPr>
          <a:xfrm>
            <a:off x="7498080" y="5216652"/>
            <a:ext cx="3931920" cy="617220"/>
          </a:xfrm>
          <a:prstGeom prst="rect">
            <a:avLst/>
          </a:prstGeom>
          <a:noFill/>
          <a:ln/>
        </p:spPr>
        <p:txBody>
          <a:bodyPr wrap="square" lIns="0" tIns="0" rIns="0" bIns="0" rtlCol="0" anchor="t"/>
          <a:lstStyle/>
          <a:p>
            <a:r>
              <a:rPr lang="en-US" sz="1300" dirty="0">
                <a:solidFill>
                  <a:schemeClr val="accent5"/>
                </a:solidFill>
              </a:rPr>
              <a:t>Backend Engineer  ·  </a:t>
            </a:r>
          </a:p>
          <a:p>
            <a:r>
              <a:rPr lang="en-US" sz="1300" dirty="0">
                <a:solidFill>
                  <a:schemeClr val="accent5"/>
                </a:solidFill>
              </a:rPr>
              <a:t>CSE Department, Daffodil International University  ·  sakib241-15-048@diu.edu.bd</a:t>
            </a:r>
            <a:endParaRPr lang="en-US" sz="13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D1BC"/>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SalaryBridge">
  <a:themeElements>
    <a:clrScheme name="SalaryBridge">
      <a:dk1>
        <a:srgbClr val="15232D"/>
      </a:dk1>
      <a:lt1>
        <a:srgbClr val="FFFFFF"/>
      </a:lt1>
      <a:dk2>
        <a:srgbClr val="0B3A33"/>
      </a:dk2>
      <a:lt2>
        <a:srgbClr val="EAF4F1"/>
      </a:lt2>
      <a:accent1>
        <a:srgbClr val="00876A"/>
      </a:accent1>
      <a:accent2>
        <a:srgbClr val="F2A33A"/>
      </a:accent2>
      <a:accent3>
        <a:srgbClr val="6A4FD6"/>
      </a:accent3>
      <a:accent4>
        <a:srgbClr val="B8322A"/>
      </a:accent4>
      <a:accent5>
        <a:srgbClr val="7FD1BC"/>
      </a:accent5>
      <a:accent6>
        <a:srgbClr val="5B6B73"/>
      </a:accent6>
      <a:hlink>
        <a:srgbClr val="00876A"/>
      </a:hlink>
      <a:folHlink>
        <a:srgbClr val="6A4FD6"/>
      </a:folHlink>
    </a:clrScheme>
    <a:fontScheme name="SalaryBri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1595</Words>
  <Application>Microsoft Office PowerPoint</Application>
  <PresentationFormat>Widescreen</PresentationFormat>
  <Paragraphs>158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Nirmala UI</vt:lpstr>
      <vt:lpstr>SalaryBridge</vt:lpstr>
      <vt:lpstr>SalaryBridge</vt:lpstr>
      <vt:lpstr>By the 20th, wages are earned but out of reach</vt:lpstr>
      <vt:lpstr>How SalaryBridge works</vt:lpstr>
      <vt:lpstr>The worker's view: one slider, one plain reason</vt:lpstr>
      <vt:lpstr>Employers get one list; upay ops sees the risk</vt:lpstr>
      <vt:lpstr>Five models; AI can shrink an offer, never decline one</vt:lpstr>
      <vt:lpstr>Tested before we believed it: ML tiers cut losses</vt:lpstr>
      <vt:lpstr>Safe by design: 32 controls, each guarded by a test</vt:lpstr>
      <vt:lpstr>Honest economics: ৳25 is too cheap, ৳49 breaks even</vt:lpstr>
      <vt:lpstr>Next: a 3-month pilot with one employer</vt:lpstr>
    </vt:vector>
  </TitlesOfParts>
  <Company>DIU CPC x upay AI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SalaryBridge — earned-wage advance for upay</dc:title>
  <dc:subject>PptxGenJS Presentation</dc:subject>
  <dc:creator>[Team Name]</dc:creator>
  <cp:lastModifiedBy>AQ Shanto</cp:lastModifiedBy>
  <cp:revision>4</cp:revision>
  <dcterms:created xsi:type="dcterms:W3CDTF">2026-10-03T21:37:03Z</dcterms:created>
  <dcterms:modified xsi:type="dcterms:W3CDTF">2026-10-03T22:26:39Z</dcterms:modified>
</cp:coreProperties>
</file>